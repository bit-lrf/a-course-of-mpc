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C5649-01F2-4DB9-A5C6-98A503DB2D5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135E-9CBD-4311-8683-3919CE89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950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大家好呀，在上一个视频煮包说过想在论文中了之后出一期车辆动力学控制的，现在论文发了，但是煮包发现不懂</a:t>
            </a:r>
            <a:r>
              <a:rPr lang="en-US" altLang="zh-CN"/>
              <a:t>MPC</a:t>
            </a:r>
            <a:r>
              <a:rPr lang="zh-CN" altLang="en-US"/>
              <a:t>的话根本讲不了一点。看了看各大平台的</a:t>
            </a:r>
            <a:r>
              <a:rPr lang="en-US" altLang="zh-CN"/>
              <a:t>MPC</a:t>
            </a:r>
            <a:r>
              <a:rPr lang="zh-CN" altLang="en-US"/>
              <a:t>教程，都是主要讲线性</a:t>
            </a:r>
            <a:r>
              <a:rPr lang="en-US" altLang="zh-CN"/>
              <a:t>MPC</a:t>
            </a:r>
            <a:r>
              <a:rPr lang="zh-CN" altLang="en-US"/>
              <a:t>的，对新手并不友好。煮包自己这么多年也对</a:t>
            </a:r>
            <a:r>
              <a:rPr lang="en-US" altLang="zh-CN"/>
              <a:t>MPC</a:t>
            </a:r>
            <a:r>
              <a:rPr lang="zh-CN" altLang="en-US"/>
              <a:t>有了一些自己的理解，所以打算出一期视频尝试以另一种视角讲讲</a:t>
            </a:r>
            <a:r>
              <a:rPr lang="en-US" altLang="zh-CN"/>
              <a:t>MPC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0135E-9CBD-4311-8683-3919CE89F6B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97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不知道各位在学习</a:t>
            </a:r>
            <a:r>
              <a:rPr lang="en-US" altLang="zh-CN"/>
              <a:t>MPC</a:t>
            </a:r>
            <a:r>
              <a:rPr lang="zh-CN" altLang="en-US"/>
              <a:t>时是否看见过这些巨大、且嵌套的矩阵。这些矩阵在煮包刚开始学</a:t>
            </a:r>
            <a:r>
              <a:rPr lang="en-US" altLang="zh-CN"/>
              <a:t>MPC</a:t>
            </a:r>
            <a:r>
              <a:rPr lang="zh-CN" altLang="en-US"/>
              <a:t>时带来了极大的困难，如果对</a:t>
            </a:r>
            <a:r>
              <a:rPr lang="en-US" altLang="zh-CN"/>
              <a:t>MPC</a:t>
            </a:r>
            <a:r>
              <a:rPr lang="zh-CN" altLang="en-US"/>
              <a:t>没有一定的了解，根本理解不了这些矩阵。哪怕是现在，煮包直接写一个</a:t>
            </a:r>
            <a:r>
              <a:rPr lang="en-US" altLang="zh-CN"/>
              <a:t>QP</a:t>
            </a:r>
            <a:r>
              <a:rPr lang="zh-CN" altLang="en-US"/>
              <a:t>形式的</a:t>
            </a:r>
            <a:r>
              <a:rPr lang="en-US" altLang="zh-CN"/>
              <a:t>MPC</a:t>
            </a:r>
            <a:r>
              <a:rPr lang="zh-CN" altLang="en-US"/>
              <a:t>也得研究半天，非常麻烦。煮包今天以另一种思路去入门</a:t>
            </a:r>
            <a:r>
              <a:rPr lang="en-US" altLang="zh-CN"/>
              <a:t>MPC</a:t>
            </a:r>
            <a:r>
              <a:rPr lang="zh-CN" altLang="en-US"/>
              <a:t>，不知道是否能够更好理解一些。欢迎大家跟我反馈感想。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0135E-9CBD-4311-8683-3919CE89F6B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135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0135E-9CBD-4311-8683-3919CE89F6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429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0135E-9CBD-4311-8683-3919CE89F6B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526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0135E-9CBD-4311-8683-3919CE89F6B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069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51CC4-A1C8-4AAF-9450-CFF8EA897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7AFFE8-495C-4A0B-9AA4-D66AAC928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25B80-E341-4C23-B28F-54C529E2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82C1E-3AB3-468E-B0A3-71E5C92A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2FFD08-6136-45E4-A5F4-EFE9CA55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49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A283E-70FE-4DBF-A14E-3D5C439C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DBB065-F4C2-4A12-8C2E-B40575C82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451E1-6C49-4D98-A45E-49AA35D8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6E59F-F54F-45F2-8B1F-D8DF03DD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39108B-53A2-4719-976B-20A5CCAE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25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DCC64-A1BD-4F17-B825-3008964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39C0D2-948C-422E-9319-3EB9C9ECA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964216-805C-45E8-B629-8CAC4945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9AF55-FEF5-4B17-A7C1-A6B61B3E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ABA36-9DA2-43E1-A2DF-82867388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84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34DCE-E3AC-48A6-B4B6-ACE30A76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C51119-A8EE-4914-AD99-0F6A0EBCE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84A259-0A03-4899-8390-79B17E8B1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30A39B-B09C-40AC-ABA9-8E3C53CA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709468-45A7-4861-A360-976D3C57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9C6921-FB4C-4F7B-9952-BBE9474D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39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B406A-4B96-463D-889E-6C0B2AF4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6D9B91-2F2F-41CE-ABF1-450901604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42B6D5-0DC0-4B49-A320-1A237F350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A7A2E6-67AC-457C-AB37-7CEA237E0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EE3ED3-6DAD-4CA8-A378-35AA541E0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DFB2B8-3934-4CD7-99F1-D1613621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451567-1912-4349-A284-A08BFE98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192322-AE96-4F0E-9A76-B6605E3C0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598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623FE-B5F2-4D3A-A71F-FCAEA849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F64925-261E-44E9-B014-48105472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6F249B-16F9-4D31-B62C-6BDEE54E4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9CE025-813D-42C0-B9EC-0D196D50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738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A2558A-D622-42D7-84DB-5C3E2897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02BC42-DACD-49E1-8B2D-5322BE11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7BAA0C-63D8-4EF6-A786-42FCF478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29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83D1B-E10A-4C1B-BD3C-547E10BE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C55B62-22FB-4FE4-BBAB-6A1146C01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A5D370-A8F7-429A-9694-E65F4A5F1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454549-CDDB-489E-B6F4-772149F3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8EBEFC-70B7-4178-A296-9BDB68FD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6EE706-AFFB-4EDE-933D-642425EE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29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237E9-9AD2-42D6-B34A-8A2183FD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CD13D7-B269-48FB-A89F-250083607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7578E6-8E87-4EFD-A903-B9AD7B4ED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0EA714-900C-453C-B183-A599B2F0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9A97DB-DD6C-419C-966D-E32C0822E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EE543A-E11D-48D8-9E27-6FBF301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37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7B1C8-0E25-41A8-923C-06D0E5EA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764259-D47C-4153-818B-D7115BBFE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C2A999-51D1-4012-9050-8D0C2C8B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3F556B-2AC0-4181-8407-4D3C99128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262302-EB56-4F9A-AE42-63081486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84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6C0522-8C56-4947-AFBE-5348BC712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3C9008-33C5-41A3-A81E-BF987B2FD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BA993F-E181-47AB-8C4B-5E31DF3E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B67A0-BB8A-4A68-8291-7279A0F7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E6C572-8EAF-4DCF-9C93-D9366AF9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14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AC2C13-DAF4-4414-8194-53CE404A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911658-BCF2-464A-873D-8624599B5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9A8061-691D-4E19-A2DB-652A2C215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9D6D7-0395-4166-A81B-09CAB154347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547E6-C9B5-4E62-8023-22EFAA2CC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924062-B486-4603-A059-725716F28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3D658-82A4-4CA5-9B44-A7608C09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28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8A920D1-50F3-43FB-B9F4-FB7EA2B66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621"/>
            <a:ext cx="12192000" cy="608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05D05F6-95C9-4000-A4CB-CFC47717A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20" y="592640"/>
            <a:ext cx="5838577" cy="184842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B72F44-0F69-4C64-B464-EE52F95A1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678" y="3046874"/>
            <a:ext cx="5145080" cy="110051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AD02FB5-2ACD-4B93-889F-42EAEEBF2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43" y="4753195"/>
            <a:ext cx="5413350" cy="1109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EF287A-736E-4289-AECD-040069154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3007" y="0"/>
            <a:ext cx="4213806" cy="6858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1B4737A-DF16-4300-A42C-8C4DFC18CDD2}"/>
              </a:ext>
            </a:extLst>
          </p:cNvPr>
          <p:cNvSpPr txBox="1"/>
          <p:nvPr/>
        </p:nvSpPr>
        <p:spPr>
          <a:xfrm>
            <a:off x="914920" y="2481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这样的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586EF9-89EE-40C9-AD8B-E0413843EBB0}"/>
              </a:ext>
            </a:extLst>
          </p:cNvPr>
          <p:cNvSpPr txBox="1"/>
          <p:nvPr/>
        </p:nvSpPr>
        <p:spPr>
          <a:xfrm>
            <a:off x="914920" y="267754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这样的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C3D217-1F0B-475F-8082-D1797080DF95}"/>
              </a:ext>
            </a:extLst>
          </p:cNvPr>
          <p:cNvSpPr txBox="1"/>
          <p:nvPr/>
        </p:nvSpPr>
        <p:spPr>
          <a:xfrm>
            <a:off x="836543" y="43320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这样的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619D06-7273-48D8-9AC5-C9528F759858}"/>
              </a:ext>
            </a:extLst>
          </p:cNvPr>
          <p:cNvSpPr txBox="1"/>
          <p:nvPr/>
        </p:nvSpPr>
        <p:spPr>
          <a:xfrm>
            <a:off x="6249893" y="-2612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或者这样的</a:t>
            </a:r>
          </a:p>
        </p:txBody>
      </p:sp>
    </p:spTree>
    <p:extLst>
      <p:ext uri="{BB962C8B-B14F-4D97-AF65-F5344CB8AC3E}">
        <p14:creationId xmlns:p14="http://schemas.microsoft.com/office/powerpoint/2010/main" val="434544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F6E14E-AACD-456A-9136-3365467D9B8D}"/>
              </a:ext>
            </a:extLst>
          </p:cNvPr>
          <p:cNvSpPr txBox="1"/>
          <p:nvPr/>
        </p:nvSpPr>
        <p:spPr>
          <a:xfrm>
            <a:off x="1058092" y="1783080"/>
            <a:ext cx="2312125" cy="280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/>
              <a:t>大纲：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u="sng">
                <a:solidFill>
                  <a:srgbClr val="C00000"/>
                </a:solidFill>
              </a:rPr>
              <a:t>理解模型</a:t>
            </a:r>
            <a:endParaRPr lang="en-US" altLang="zh-CN" sz="2400" b="1" u="sng">
              <a:solidFill>
                <a:srgbClr val="C00000"/>
              </a:solidFill>
            </a:endParaRPr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理解预测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理解优化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实战</a:t>
            </a:r>
            <a:endParaRPr lang="en-US" altLang="zh-CN" sz="2400" b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CBE8EA-AE7B-4BCB-8B20-4BD8E2632C68}"/>
              </a:ext>
            </a:extLst>
          </p:cNvPr>
          <p:cNvSpPr txBox="1"/>
          <p:nvPr/>
        </p:nvSpPr>
        <p:spPr>
          <a:xfrm>
            <a:off x="5125539" y="632446"/>
            <a:ext cx="60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标准状态空间方程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适用于模型预测控制的模型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举个栗子（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19C8B1-4E6E-4C3F-A2F4-DC691ED2F775}"/>
              </a:ext>
            </a:extLst>
          </p:cNvPr>
          <p:cNvSpPr txBox="1"/>
          <p:nvPr/>
        </p:nvSpPr>
        <p:spPr>
          <a:xfrm>
            <a:off x="5125539" y="2598406"/>
            <a:ext cx="60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用数学模型搭建仿真环境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符号化表达</a:t>
            </a:r>
            <a:endParaRPr lang="en-US" altLang="zh-CN" sz="2400" b="1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举个粒子（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A5F05C-A469-46B7-A894-04550B59587E}"/>
              </a:ext>
            </a:extLst>
          </p:cNvPr>
          <p:cNvSpPr txBox="1"/>
          <p:nvPr/>
        </p:nvSpPr>
        <p:spPr>
          <a:xfrm>
            <a:off x="5125539" y="4564366"/>
            <a:ext cx="60970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非线性优化问题（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NLP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最优控制问题（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OCP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endParaRPr lang="en-US" altLang="zh-CN" sz="2400" b="1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二次规划问题（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QP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举个李子（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294C1AD-7AB2-449E-9803-1AF6B58E1CE6}"/>
              </a:ext>
            </a:extLst>
          </p:cNvPr>
          <p:cNvCxnSpPr>
            <a:endCxn id="10" idx="1"/>
          </p:cNvCxnSpPr>
          <p:nvPr/>
        </p:nvCxnSpPr>
        <p:spPr>
          <a:xfrm flipV="1">
            <a:off x="3180806" y="1232611"/>
            <a:ext cx="1944733" cy="145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6E5FC94-FFBD-47E3-8E54-08EC8A7E91A2}"/>
              </a:ext>
            </a:extLst>
          </p:cNvPr>
          <p:cNvCxnSpPr/>
          <p:nvPr/>
        </p:nvCxnSpPr>
        <p:spPr>
          <a:xfrm>
            <a:off x="3180806" y="3252651"/>
            <a:ext cx="1717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6B7EED6-4CD6-4FCF-BC6F-7FDDEDB2769B}"/>
              </a:ext>
            </a:extLst>
          </p:cNvPr>
          <p:cNvCxnSpPr/>
          <p:nvPr/>
        </p:nvCxnSpPr>
        <p:spPr>
          <a:xfrm>
            <a:off x="3180806" y="3798735"/>
            <a:ext cx="1776548" cy="1426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37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1151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理解模型：标准状态空间方程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1DDB8D-00DC-4D1E-88FF-5EACE82EF190}"/>
              </a:ext>
            </a:extLst>
          </p:cNvPr>
          <p:cNvSpPr txBox="1"/>
          <p:nvPr/>
        </p:nvSpPr>
        <p:spPr>
          <a:xfrm>
            <a:off x="1423852" y="1156063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控制系统的基本要素：状态量和控制量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CC00A7-3659-49D1-9789-23F04AB21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424" y="1039255"/>
            <a:ext cx="3410426" cy="236253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8202B3-4229-4EC4-8C7E-B438AA424CAD}"/>
              </a:ext>
            </a:extLst>
          </p:cNvPr>
          <p:cNvSpPr txBox="1"/>
          <p:nvPr/>
        </p:nvSpPr>
        <p:spPr>
          <a:xfrm>
            <a:off x="7919424" y="79804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纯小白看不懂可以看这个：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F67FB4-A090-4E7A-99D4-5698B203D099}"/>
              </a:ext>
            </a:extLst>
          </p:cNvPr>
          <p:cNvSpPr/>
          <p:nvPr/>
        </p:nvSpPr>
        <p:spPr>
          <a:xfrm>
            <a:off x="830042" y="2847410"/>
            <a:ext cx="1443446" cy="8882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36F588B-0BA7-42E3-BA17-49BB584CBB64}"/>
              </a:ext>
            </a:extLst>
          </p:cNvPr>
          <p:cNvCxnSpPr/>
          <p:nvPr/>
        </p:nvCxnSpPr>
        <p:spPr>
          <a:xfrm>
            <a:off x="1535436" y="3285015"/>
            <a:ext cx="13846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C4E9E21-5527-4827-A449-8689B97E1126}"/>
              </a:ext>
            </a:extLst>
          </p:cNvPr>
          <p:cNvSpPr txBox="1"/>
          <p:nvPr/>
        </p:nvSpPr>
        <p:spPr>
          <a:xfrm>
            <a:off x="2468750" y="288659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2C4553-D6C8-4DA9-B8CF-6BF8096BF130}"/>
              </a:ext>
            </a:extLst>
          </p:cNvPr>
          <p:cNvSpPr txBox="1"/>
          <p:nvPr/>
        </p:nvSpPr>
        <p:spPr>
          <a:xfrm>
            <a:off x="986246" y="2024743"/>
            <a:ext cx="4754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一般来说，常用 </a:t>
            </a:r>
            <a:r>
              <a:rPr lang="en-US" altLang="zh-CN">
                <a:solidFill>
                  <a:srgbClr val="C00000"/>
                </a:solidFill>
              </a:rPr>
              <a:t>x </a:t>
            </a:r>
            <a:r>
              <a:rPr lang="zh-CN" altLang="en-US">
                <a:solidFill>
                  <a:srgbClr val="C00000"/>
                </a:solidFill>
              </a:rPr>
              <a:t>表示状态量，</a:t>
            </a:r>
            <a:r>
              <a:rPr lang="en-US" altLang="zh-CN">
                <a:solidFill>
                  <a:srgbClr val="C00000"/>
                </a:solidFill>
              </a:rPr>
              <a:t>u </a:t>
            </a:r>
            <a:r>
              <a:rPr lang="zh-CN" altLang="en-US">
                <a:solidFill>
                  <a:srgbClr val="C00000"/>
                </a:solidFill>
              </a:rPr>
              <a:t>表示控制量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492F827-4EBB-4F0D-8A89-7E23C5F47134}"/>
              </a:ext>
            </a:extLst>
          </p:cNvPr>
          <p:cNvCxnSpPr>
            <a:cxnSpLocks/>
          </p:cNvCxnSpPr>
          <p:nvPr/>
        </p:nvCxnSpPr>
        <p:spPr>
          <a:xfrm>
            <a:off x="457750" y="3885906"/>
            <a:ext cx="53361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1E1D0DC-B6F0-42C8-9B4B-965FFBD3D544}"/>
              </a:ext>
            </a:extLst>
          </p:cNvPr>
          <p:cNvSpPr txBox="1"/>
          <p:nvPr/>
        </p:nvSpPr>
        <p:spPr>
          <a:xfrm>
            <a:off x="3343960" y="2794266"/>
            <a:ext cx="32859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考虑一个在一维空间中移动的质量块，</a:t>
            </a:r>
            <a:r>
              <a:rPr lang="zh-CN" altLang="en-US">
                <a:solidFill>
                  <a:srgbClr val="C00000"/>
                </a:solidFill>
              </a:rPr>
              <a:t>质量为</a:t>
            </a:r>
            <a:r>
              <a:rPr lang="en-US" altLang="zh-CN">
                <a:solidFill>
                  <a:srgbClr val="C00000"/>
                </a:solidFill>
              </a:rPr>
              <a:t>m</a:t>
            </a:r>
            <a:r>
              <a:rPr lang="zh-CN" altLang="en-US">
                <a:solidFill>
                  <a:srgbClr val="C00000"/>
                </a:solidFill>
              </a:rPr>
              <a:t>，受到控制量</a:t>
            </a:r>
            <a:r>
              <a:rPr lang="en-US" altLang="zh-CN">
                <a:solidFill>
                  <a:srgbClr val="C00000"/>
                </a:solidFill>
              </a:rPr>
              <a:t>F</a:t>
            </a:r>
            <a:r>
              <a:rPr lang="zh-CN" altLang="en-US">
                <a:solidFill>
                  <a:srgbClr val="C00000"/>
                </a:solidFill>
              </a:rPr>
              <a:t>的作用</a:t>
            </a:r>
            <a:r>
              <a:rPr lang="zh-CN" altLang="en-US"/>
              <a:t>，该系统可以描述为：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6D6F3C-EAB7-458A-9F3F-831EE10035D2}"/>
              </a:ext>
            </a:extLst>
          </p:cNvPr>
          <p:cNvSpPr txBox="1"/>
          <p:nvPr/>
        </p:nvSpPr>
        <p:spPr>
          <a:xfrm>
            <a:off x="873001" y="4257846"/>
            <a:ext cx="4774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/>
              <a:t>控制量：</a:t>
            </a:r>
            <a:r>
              <a:rPr lang="en-US" altLang="zh-CN"/>
              <a:t>u = [ F ]</a:t>
            </a:r>
            <a:r>
              <a:rPr lang="zh-CN" altLang="en-US"/>
              <a:t>，</a:t>
            </a:r>
            <a:endParaRPr lang="en-US" altLang="zh-CN"/>
          </a:p>
          <a:p>
            <a:pPr>
              <a:lnSpc>
                <a:spcPts val="2200"/>
              </a:lnSpc>
            </a:pPr>
            <a:r>
              <a:rPr lang="zh-CN" altLang="en-US"/>
              <a:t>状态量：</a:t>
            </a:r>
            <a:r>
              <a:rPr lang="en-US" altLang="zh-CN"/>
              <a:t>x = [ s, v ]</a:t>
            </a:r>
            <a:r>
              <a:rPr lang="zh-CN" altLang="en-US"/>
              <a:t>，其中</a:t>
            </a:r>
            <a:r>
              <a:rPr lang="en-US" altLang="zh-CN">
                <a:solidFill>
                  <a:srgbClr val="C00000"/>
                </a:solidFill>
              </a:rPr>
              <a:t>s</a:t>
            </a:r>
            <a:r>
              <a:rPr lang="zh-CN" altLang="en-US">
                <a:solidFill>
                  <a:srgbClr val="C00000"/>
                </a:solidFill>
              </a:rPr>
              <a:t>是位置，</a:t>
            </a:r>
            <a:r>
              <a:rPr lang="en-US" altLang="zh-CN">
                <a:solidFill>
                  <a:srgbClr val="C00000"/>
                </a:solidFill>
              </a:rPr>
              <a:t>v</a:t>
            </a:r>
            <a:r>
              <a:rPr lang="zh-CN" altLang="en-US">
                <a:solidFill>
                  <a:srgbClr val="C00000"/>
                </a:solidFill>
              </a:rPr>
              <a:t>是速度</a:t>
            </a:r>
            <a:r>
              <a:rPr lang="zh-CN" altLang="en-US"/>
              <a:t>，根据牛顿第几定律（我忘了）可以写出：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0669BB-EF06-40C7-BA28-55198018BA4E}"/>
              </a:ext>
            </a:extLst>
          </p:cNvPr>
          <p:cNvSpPr txBox="1"/>
          <p:nvPr/>
        </p:nvSpPr>
        <p:spPr>
          <a:xfrm>
            <a:off x="6884126" y="4258141"/>
            <a:ext cx="4757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那么</a:t>
            </a:r>
            <a:r>
              <a:rPr lang="zh-CN" altLang="en-US">
                <a:solidFill>
                  <a:srgbClr val="C00000"/>
                </a:solidFill>
              </a:rPr>
              <a:t>状态空间方程为</a:t>
            </a:r>
            <a:r>
              <a:rPr lang="zh-CN" altLang="en-US"/>
              <a:t>：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2CE4DC2-403A-4D8A-AE24-EA56D5741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260" y="5379100"/>
            <a:ext cx="2155371" cy="804819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AE729AA-473F-4CCB-A05C-8C689EF16F1C}"/>
              </a:ext>
            </a:extLst>
          </p:cNvPr>
          <p:cNvCxnSpPr>
            <a:cxnSpLocks/>
          </p:cNvCxnSpPr>
          <p:nvPr/>
        </p:nvCxnSpPr>
        <p:spPr>
          <a:xfrm>
            <a:off x="6884126" y="176349"/>
            <a:ext cx="0" cy="3796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231DD2C-0A90-4776-8F18-7BC74CA69967}"/>
              </a:ext>
            </a:extLst>
          </p:cNvPr>
          <p:cNvCxnSpPr/>
          <p:nvPr/>
        </p:nvCxnSpPr>
        <p:spPr>
          <a:xfrm>
            <a:off x="6884126" y="3972615"/>
            <a:ext cx="5222994" cy="18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319CC2-AD47-484B-BA5D-359B6F1A8237}"/>
              </a:ext>
            </a:extLst>
          </p:cNvPr>
          <p:cNvCxnSpPr/>
          <p:nvPr/>
        </p:nvCxnSpPr>
        <p:spPr>
          <a:xfrm>
            <a:off x="6453051" y="4222687"/>
            <a:ext cx="0" cy="246923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941DCF67-0D2F-4B55-A830-F48366ECA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206" y="4667817"/>
            <a:ext cx="2384854" cy="732357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FA377AE7-D3FC-49E1-B85B-AD37382E8D50}"/>
              </a:ext>
            </a:extLst>
          </p:cNvPr>
          <p:cNvSpPr txBox="1"/>
          <p:nvPr/>
        </p:nvSpPr>
        <p:spPr>
          <a:xfrm>
            <a:off x="6878105" y="5440518"/>
            <a:ext cx="4757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展开</a:t>
            </a:r>
            <a:r>
              <a:rPr lang="en-US" altLang="zh-CN"/>
              <a:t>x</a:t>
            </a:r>
            <a:r>
              <a:rPr lang="zh-CN" altLang="en-US"/>
              <a:t>和</a:t>
            </a:r>
            <a:r>
              <a:rPr lang="en-US" altLang="zh-CN"/>
              <a:t>u</a:t>
            </a:r>
            <a:r>
              <a:rPr lang="zh-CN" altLang="en-US"/>
              <a:t>：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7E006CA-C0DA-4748-8A3D-AA234D9F27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227" y="5832504"/>
            <a:ext cx="3467398" cy="7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16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BB9253-A7DD-41C7-9D68-0B7EBF2AA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837" y="2450169"/>
            <a:ext cx="2954655" cy="92978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1151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理解模型：标准状态空间方程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B5F8CC-F6C7-4AA7-AA86-C06A53134317}"/>
              </a:ext>
            </a:extLst>
          </p:cNvPr>
          <p:cNvSpPr txBox="1"/>
          <p:nvPr/>
        </p:nvSpPr>
        <p:spPr>
          <a:xfrm>
            <a:off x="966652" y="182226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标准状态空间方程的形式：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18468A4-78D2-4BE3-A08E-942730745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619" y="910096"/>
            <a:ext cx="2330495" cy="715664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8F7CE54-0F30-4259-9C67-5EBCA262BEAF}"/>
              </a:ext>
            </a:extLst>
          </p:cNvPr>
          <p:cNvCxnSpPr>
            <a:endCxn id="23" idx="2"/>
          </p:cNvCxnSpPr>
          <p:nvPr/>
        </p:nvCxnSpPr>
        <p:spPr>
          <a:xfrm>
            <a:off x="3605349" y="1625760"/>
            <a:ext cx="5525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EFDA796-215F-4100-8911-A5C131DA1193}"/>
              </a:ext>
            </a:extLst>
          </p:cNvPr>
          <p:cNvCxnSpPr/>
          <p:nvPr/>
        </p:nvCxnSpPr>
        <p:spPr>
          <a:xfrm>
            <a:off x="3881608" y="1625760"/>
            <a:ext cx="141752" cy="1104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FE53960-789E-4106-8915-9AFB40BA67EC}"/>
              </a:ext>
            </a:extLst>
          </p:cNvPr>
          <p:cNvCxnSpPr/>
          <p:nvPr/>
        </p:nvCxnSpPr>
        <p:spPr>
          <a:xfrm>
            <a:off x="4663440" y="1574074"/>
            <a:ext cx="3592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2092570-1CE9-4BC1-9C13-A1A24AD325CE}"/>
              </a:ext>
            </a:extLst>
          </p:cNvPr>
          <p:cNvCxnSpPr/>
          <p:nvPr/>
        </p:nvCxnSpPr>
        <p:spPr>
          <a:xfrm>
            <a:off x="4843054" y="1574074"/>
            <a:ext cx="0" cy="1103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FE557F40-F9F3-4461-8D68-6E1369CB2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424" y="1039255"/>
            <a:ext cx="3410426" cy="2362530"/>
          </a:xfrm>
          <a:prstGeom prst="rect">
            <a:avLst/>
          </a:prstGeom>
        </p:spPr>
      </p:pic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98B8747-C05D-413D-A9BD-340FACEA64D5}"/>
              </a:ext>
            </a:extLst>
          </p:cNvPr>
          <p:cNvCxnSpPr>
            <a:cxnSpLocks/>
          </p:cNvCxnSpPr>
          <p:nvPr/>
        </p:nvCxnSpPr>
        <p:spPr>
          <a:xfrm>
            <a:off x="6884126" y="176349"/>
            <a:ext cx="0" cy="3796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04B2127-8573-470D-88C3-46EE79BAFAE9}"/>
              </a:ext>
            </a:extLst>
          </p:cNvPr>
          <p:cNvCxnSpPr/>
          <p:nvPr/>
        </p:nvCxnSpPr>
        <p:spPr>
          <a:xfrm>
            <a:off x="6884126" y="3972615"/>
            <a:ext cx="5222994" cy="18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8DD77E65-296E-475F-A263-14F0E719AD6F}"/>
              </a:ext>
            </a:extLst>
          </p:cNvPr>
          <p:cNvSpPr txBox="1"/>
          <p:nvPr/>
        </p:nvSpPr>
        <p:spPr>
          <a:xfrm>
            <a:off x="5294831" y="184364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/>
              <a:t>扰动项，</a:t>
            </a:r>
            <a:endParaRPr lang="en-US" altLang="zh-CN" sz="1200"/>
          </a:p>
          <a:p>
            <a:pPr algn="ctr"/>
            <a:r>
              <a:rPr lang="zh-CN" altLang="en-US" sz="1200"/>
              <a:t>比如摩擦阻力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C44DDCD-BA2D-4205-B860-0F10EC6C921F}"/>
              </a:ext>
            </a:extLst>
          </p:cNvPr>
          <p:cNvCxnSpPr>
            <a:stCxn id="31" idx="2"/>
          </p:cNvCxnSpPr>
          <p:nvPr/>
        </p:nvCxnSpPr>
        <p:spPr>
          <a:xfrm flipH="1">
            <a:off x="5675811" y="2305314"/>
            <a:ext cx="173018" cy="424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0742E2E8-438B-4DB7-AA7B-DF3621676501}"/>
              </a:ext>
            </a:extLst>
          </p:cNvPr>
          <p:cNvSpPr txBox="1"/>
          <p:nvPr/>
        </p:nvSpPr>
        <p:spPr>
          <a:xfrm>
            <a:off x="966651" y="3612327"/>
            <a:ext cx="5858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这是绝大多数同学学习</a:t>
            </a:r>
            <a:r>
              <a:rPr lang="en-US" altLang="zh-CN"/>
              <a:t>MPC</a:t>
            </a:r>
            <a:r>
              <a:rPr lang="zh-CN" altLang="en-US"/>
              <a:t>的痛苦之源，导致了一大堆的非常大且复杂的公式：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E2C4EF0F-1FB8-4B53-9A48-5CAF52BCC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442" y="4450952"/>
            <a:ext cx="2821951" cy="2005601"/>
          </a:xfrm>
          <a:prstGeom prst="rect">
            <a:avLst/>
          </a:prstGeom>
        </p:spPr>
      </p:pic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D3AE7CC-745E-41FD-B3B4-A651781B586C}"/>
              </a:ext>
            </a:extLst>
          </p:cNvPr>
          <p:cNvCxnSpPr/>
          <p:nvPr/>
        </p:nvCxnSpPr>
        <p:spPr>
          <a:xfrm>
            <a:off x="6453051" y="4222687"/>
            <a:ext cx="0" cy="246923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40BE2FCC-6E3D-4C53-94D1-B5953410BC2C}"/>
              </a:ext>
            </a:extLst>
          </p:cNvPr>
          <p:cNvSpPr txBox="1"/>
          <p:nvPr/>
        </p:nvSpPr>
        <p:spPr>
          <a:xfrm>
            <a:off x="6975567" y="4389120"/>
            <a:ext cx="4865914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煮包认为对于新手直接学习</a:t>
            </a:r>
            <a:r>
              <a:rPr lang="en-US" altLang="zh-CN"/>
              <a:t>QP</a:t>
            </a:r>
            <a:r>
              <a:rPr lang="zh-CN" altLang="en-US"/>
              <a:t>形式的</a:t>
            </a:r>
            <a:r>
              <a:rPr lang="en-US" altLang="zh-CN"/>
              <a:t>MPC</a:t>
            </a:r>
            <a:r>
              <a:rPr lang="zh-CN" altLang="en-US"/>
              <a:t>难度是非常大的。</a:t>
            </a:r>
            <a:r>
              <a:rPr lang="en-US" altLang="zh-CN">
                <a:solidFill>
                  <a:srgbClr val="C00000"/>
                </a:solidFill>
              </a:rPr>
              <a:t>QP</a:t>
            </a:r>
            <a:r>
              <a:rPr lang="zh-CN" altLang="en-US">
                <a:solidFill>
                  <a:srgbClr val="C00000"/>
                </a:solidFill>
              </a:rPr>
              <a:t>形式是</a:t>
            </a:r>
            <a:r>
              <a:rPr lang="en-US" altLang="zh-CN">
                <a:solidFill>
                  <a:srgbClr val="C00000"/>
                </a:solidFill>
              </a:rPr>
              <a:t>MPC</a:t>
            </a:r>
            <a:r>
              <a:rPr lang="zh-CN" altLang="en-US">
                <a:solidFill>
                  <a:srgbClr val="C00000"/>
                </a:solidFill>
              </a:rPr>
              <a:t>的一种特殊结构抽象，是为了解决一些现实问题（实时性等）</a:t>
            </a:r>
            <a:r>
              <a:rPr lang="zh-CN" altLang="en-US"/>
              <a:t>。如果单从理解</a:t>
            </a:r>
            <a:r>
              <a:rPr lang="en-US" altLang="zh-CN"/>
              <a:t>MPC</a:t>
            </a:r>
            <a:r>
              <a:rPr lang="zh-CN" altLang="en-US"/>
              <a:t>的思想来说，煮包更加推荐先从一般形式的</a:t>
            </a:r>
            <a:r>
              <a:rPr lang="en-US" altLang="zh-CN"/>
              <a:t>MPC</a:t>
            </a:r>
            <a:r>
              <a:rPr lang="zh-CN" altLang="en-US"/>
              <a:t>开始学习。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6F4EDC5-E212-416C-9257-41C28AF28C3B}"/>
              </a:ext>
            </a:extLst>
          </p:cNvPr>
          <p:cNvSpPr txBox="1"/>
          <p:nvPr/>
        </p:nvSpPr>
        <p:spPr>
          <a:xfrm>
            <a:off x="7919424" y="79804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纯小白看不懂可以看这个：</a:t>
            </a:r>
          </a:p>
        </p:txBody>
      </p:sp>
    </p:spTree>
    <p:extLst>
      <p:ext uri="{BB962C8B-B14F-4D97-AF65-F5344CB8AC3E}">
        <p14:creationId xmlns:p14="http://schemas.microsoft.com/office/powerpoint/2010/main" val="2870824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1151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00"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理解模型：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适用于模型预测控制的模型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DE15D5-3D2F-4708-AA44-E7EAF19D8EBB}"/>
              </a:ext>
            </a:extLst>
          </p:cNvPr>
          <p:cNvSpPr txBox="1"/>
          <p:nvPr/>
        </p:nvSpPr>
        <p:spPr>
          <a:xfrm>
            <a:off x="862150" y="1039255"/>
            <a:ext cx="5747656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MPC</a:t>
            </a:r>
            <a:r>
              <a:rPr lang="zh-CN" altLang="en-US"/>
              <a:t>对模型的要求其实非常低：在牛顿法的数值优化框架下，模型只需要连续二次可微。最通用的描述方式为：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C6780C-CDB7-4C5F-A417-AAEE6F6FC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945" y="1920394"/>
            <a:ext cx="2206066" cy="53605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0A7F36B3-65C0-40EF-B052-9D18852BE895}"/>
              </a:ext>
            </a:extLst>
          </p:cNvPr>
          <p:cNvSpPr txBox="1"/>
          <p:nvPr/>
        </p:nvSpPr>
        <p:spPr>
          <a:xfrm>
            <a:off x="862150" y="2501810"/>
            <a:ext cx="5747656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没错！隐函数也可以作为</a:t>
            </a:r>
            <a:r>
              <a:rPr lang="en-US" altLang="zh-CN"/>
              <a:t>MPC</a:t>
            </a:r>
            <a:r>
              <a:rPr lang="zh-CN" altLang="en-US"/>
              <a:t>的模型使用，但是这样的表示方式不利于小白理解，所以我们还是用最优控制问题（</a:t>
            </a:r>
            <a:r>
              <a:rPr lang="en-US" altLang="zh-CN"/>
              <a:t>Optimal Control Problem</a:t>
            </a:r>
            <a:r>
              <a:rPr lang="zh-CN" altLang="en-US"/>
              <a:t>，</a:t>
            </a:r>
            <a:r>
              <a:rPr lang="en-US" altLang="zh-CN"/>
              <a:t>OCP</a:t>
            </a:r>
            <a:r>
              <a:rPr lang="zh-CN" altLang="en-US"/>
              <a:t>）的描述方式：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CDCA27-9D2A-4BFB-B105-6454C9494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696" y="3926895"/>
            <a:ext cx="1892564" cy="517442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C9C2534A-86B2-48B1-8D14-9393DCF11867}"/>
              </a:ext>
            </a:extLst>
          </p:cNvPr>
          <p:cNvSpPr txBox="1"/>
          <p:nvPr/>
        </p:nvSpPr>
        <p:spPr>
          <a:xfrm>
            <a:off x="862150" y="4444337"/>
            <a:ext cx="5747656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有点眼熟？其实就是质量块最开始的动力学方程：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7C690FF6-5BE3-4424-B6CD-A2AEACDA22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33"/>
          <a:stretch/>
        </p:blipFill>
        <p:spPr>
          <a:xfrm>
            <a:off x="2632945" y="4961779"/>
            <a:ext cx="1569285" cy="103407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53CF6E9A-455B-488C-832E-5B23FE6957A2}"/>
              </a:ext>
            </a:extLst>
          </p:cNvPr>
          <p:cNvSpPr txBox="1"/>
          <p:nvPr/>
        </p:nvSpPr>
        <p:spPr>
          <a:xfrm>
            <a:off x="8139994" y="214934"/>
            <a:ext cx="2997925" cy="36933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用一段</a:t>
            </a:r>
            <a:r>
              <a:rPr lang="en-US" altLang="zh-CN"/>
              <a:t>matlab</a:t>
            </a:r>
            <a:r>
              <a:rPr lang="zh-CN" altLang="en-US"/>
              <a:t>代码演示一下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0AE5FE3-A91D-4E96-9BE2-53AF3ED4BEA9}"/>
              </a:ext>
            </a:extLst>
          </p:cNvPr>
          <p:cNvCxnSpPr>
            <a:cxnSpLocks/>
          </p:cNvCxnSpPr>
          <p:nvPr/>
        </p:nvCxnSpPr>
        <p:spPr>
          <a:xfrm>
            <a:off x="6929845" y="214934"/>
            <a:ext cx="0" cy="655815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CE01D748-35FD-4D97-A84A-388A521A0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700" y="897671"/>
            <a:ext cx="1996512" cy="376425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E1D91B8-FBE4-4366-B6BA-D6981491C9D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4382"/>
          <a:stretch/>
        </p:blipFill>
        <p:spPr>
          <a:xfrm>
            <a:off x="7155391" y="4782224"/>
            <a:ext cx="4967133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0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F6E14E-AACD-456A-9136-3365467D9B8D}"/>
              </a:ext>
            </a:extLst>
          </p:cNvPr>
          <p:cNvSpPr txBox="1"/>
          <p:nvPr/>
        </p:nvSpPr>
        <p:spPr>
          <a:xfrm>
            <a:off x="1058092" y="1783080"/>
            <a:ext cx="2312125" cy="280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/>
              <a:t>大纲：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理解模型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u="sng">
                <a:solidFill>
                  <a:srgbClr val="C00000"/>
                </a:solidFill>
              </a:rPr>
              <a:t>理解预测</a:t>
            </a:r>
            <a:endParaRPr lang="en-US" altLang="zh-CN" sz="2400" b="1" u="sng">
              <a:solidFill>
                <a:srgbClr val="C00000"/>
              </a:solidFill>
            </a:endParaRPr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理解优化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实战</a:t>
            </a:r>
            <a:endParaRPr lang="en-US" altLang="zh-CN" sz="2400" b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CBE8EA-AE7B-4BCB-8B20-4BD8E2632C68}"/>
              </a:ext>
            </a:extLst>
          </p:cNvPr>
          <p:cNvSpPr txBox="1"/>
          <p:nvPr/>
        </p:nvSpPr>
        <p:spPr>
          <a:xfrm>
            <a:off x="5125539" y="632446"/>
            <a:ext cx="60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标准状态空间方程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适用于模型预测控制的模型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举个栗子（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19C8B1-4E6E-4C3F-A2F4-DC691ED2F775}"/>
              </a:ext>
            </a:extLst>
          </p:cNvPr>
          <p:cNvSpPr txBox="1"/>
          <p:nvPr/>
        </p:nvSpPr>
        <p:spPr>
          <a:xfrm>
            <a:off x="5125539" y="2598406"/>
            <a:ext cx="60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用数学模型搭建仿真环境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符号化表达</a:t>
            </a:r>
            <a:endParaRPr lang="en-US" altLang="zh-CN" sz="2400" b="1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举个粒子（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A5F05C-A469-46B7-A894-04550B59587E}"/>
              </a:ext>
            </a:extLst>
          </p:cNvPr>
          <p:cNvSpPr txBox="1"/>
          <p:nvPr/>
        </p:nvSpPr>
        <p:spPr>
          <a:xfrm>
            <a:off x="5125539" y="4564366"/>
            <a:ext cx="60970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非线性优化问题（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NLP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最优控制问题（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OCP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endParaRPr lang="en-US" altLang="zh-CN" sz="2400" b="1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二次规划问题（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QP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举个李子（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294C1AD-7AB2-449E-9803-1AF6B58E1CE6}"/>
              </a:ext>
            </a:extLst>
          </p:cNvPr>
          <p:cNvCxnSpPr>
            <a:endCxn id="10" idx="1"/>
          </p:cNvCxnSpPr>
          <p:nvPr/>
        </p:nvCxnSpPr>
        <p:spPr>
          <a:xfrm flipV="1">
            <a:off x="3180806" y="1232611"/>
            <a:ext cx="1944733" cy="145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6E5FC94-FFBD-47E3-8E54-08EC8A7E91A2}"/>
              </a:ext>
            </a:extLst>
          </p:cNvPr>
          <p:cNvCxnSpPr/>
          <p:nvPr/>
        </p:nvCxnSpPr>
        <p:spPr>
          <a:xfrm>
            <a:off x="3180806" y="3252651"/>
            <a:ext cx="1717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6B7EED6-4CD6-4FCF-BC6F-7FDDEDB2769B}"/>
              </a:ext>
            </a:extLst>
          </p:cNvPr>
          <p:cNvCxnSpPr/>
          <p:nvPr/>
        </p:nvCxnSpPr>
        <p:spPr>
          <a:xfrm>
            <a:off x="3180806" y="3798735"/>
            <a:ext cx="1776548" cy="1426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75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1151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00"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理解预测：用数学模型搭建仿真环境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E32DA0-5A6E-4002-AA26-DFDC351E1DCC}"/>
              </a:ext>
            </a:extLst>
          </p:cNvPr>
          <p:cNvSpPr txBox="1"/>
          <p:nvPr/>
        </p:nvSpPr>
        <p:spPr>
          <a:xfrm>
            <a:off x="789487" y="787135"/>
            <a:ext cx="5519056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预测在不同的教程中以不同的视角进行解释，但是大多都基于状态空间方程。根据煮包自己的实践，这样的描述方式并不好理解，煮包更推荐从代码实现的视角去理解</a:t>
            </a:r>
            <a:r>
              <a:rPr lang="en-US" altLang="zh-CN"/>
              <a:t>MPC</a:t>
            </a:r>
            <a:r>
              <a:rPr lang="zh-CN" altLang="en-US"/>
              <a:t>中的预测。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D63985-61BF-4CE1-8590-3B65C84CB343}"/>
              </a:ext>
            </a:extLst>
          </p:cNvPr>
          <p:cNvSpPr txBox="1"/>
          <p:nvPr/>
        </p:nvSpPr>
        <p:spPr>
          <a:xfrm>
            <a:off x="789487" y="2583277"/>
            <a:ext cx="5519056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首先让我们忘记现在正在学</a:t>
            </a:r>
            <a:r>
              <a:rPr lang="en-US" altLang="zh-CN"/>
              <a:t>MPC</a:t>
            </a:r>
            <a:r>
              <a:rPr lang="zh-CN" altLang="en-US"/>
              <a:t>，只是考虑前面的质量系统，这里重新写一遍：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EC7BC7-95F6-4C38-A2E4-47FD6D1F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28" y="3466631"/>
            <a:ext cx="2155371" cy="8048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565DAA9-FBBA-4B78-A3A9-4FC2486173FD}"/>
              </a:ext>
            </a:extLst>
          </p:cNvPr>
          <p:cNvSpPr txBox="1"/>
          <p:nvPr/>
        </p:nvSpPr>
        <p:spPr>
          <a:xfrm>
            <a:off x="789486" y="4271450"/>
            <a:ext cx="5519056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现在需要考虑的是：在</a:t>
            </a:r>
            <a:r>
              <a:rPr lang="zh-CN" altLang="en-US">
                <a:solidFill>
                  <a:srgbClr val="FF0000"/>
                </a:solidFill>
              </a:rPr>
              <a:t>仿真步数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，仿真步长</a:t>
            </a:r>
            <a:r>
              <a:rPr lang="en-US" altLang="zh-CN">
                <a:solidFill>
                  <a:srgbClr val="FF0000"/>
                </a:solidFill>
              </a:rPr>
              <a:t>h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zh-CN" altLang="en-US"/>
              <a:t>的条件下，假设未来</a:t>
            </a:r>
            <a:r>
              <a:rPr lang="en-US" altLang="zh-CN"/>
              <a:t>N</a:t>
            </a:r>
            <a:r>
              <a:rPr lang="zh-CN" altLang="en-US"/>
              <a:t>个控制量</a:t>
            </a:r>
            <a:r>
              <a:rPr lang="en-US" altLang="zh-CN"/>
              <a:t>u</a:t>
            </a:r>
            <a:r>
              <a:rPr lang="zh-CN" altLang="en-US"/>
              <a:t>是确定的，给出未来</a:t>
            </a:r>
            <a:r>
              <a:rPr lang="en-US" altLang="zh-CN"/>
              <a:t>N</a:t>
            </a:r>
            <a:r>
              <a:rPr lang="zh-CN" altLang="en-US"/>
              <a:t>个状态量</a:t>
            </a:r>
            <a:r>
              <a:rPr lang="en-US" altLang="zh-CN"/>
              <a:t>x</a:t>
            </a:r>
            <a:r>
              <a:rPr lang="zh-CN" altLang="en-US"/>
              <a:t>。为了方便理解，使用最简单的前向欧拉做近似：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DB3336-70FB-4F4E-976E-F5EEAA7E215E}"/>
              </a:ext>
            </a:extLst>
          </p:cNvPr>
          <p:cNvCxnSpPr>
            <a:cxnSpLocks/>
          </p:cNvCxnSpPr>
          <p:nvPr/>
        </p:nvCxnSpPr>
        <p:spPr>
          <a:xfrm>
            <a:off x="6714308" y="214934"/>
            <a:ext cx="0" cy="655815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6D7FCE63-0C00-4502-A055-84DC5E19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334" y="6043630"/>
            <a:ext cx="4447358" cy="60895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0DCC4D4-38E7-47E9-AE6B-159134EF8F3D}"/>
              </a:ext>
            </a:extLst>
          </p:cNvPr>
          <p:cNvSpPr txBox="1"/>
          <p:nvPr/>
        </p:nvSpPr>
        <p:spPr>
          <a:xfrm>
            <a:off x="8139994" y="214934"/>
            <a:ext cx="2997925" cy="36933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用一段</a:t>
            </a:r>
            <a:r>
              <a:rPr lang="en-US" altLang="zh-CN"/>
              <a:t>matlab</a:t>
            </a:r>
            <a:r>
              <a:rPr lang="zh-CN" altLang="en-US"/>
              <a:t>代码演示一下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1FEF366-AB25-435F-B872-6DA824C89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8194" y="1740405"/>
            <a:ext cx="1714739" cy="10764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DC8AAA7-4235-4BB7-9BB5-0EBF9607D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956" y="3019749"/>
            <a:ext cx="2313216" cy="178491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E324A15-FFB6-4F69-92C5-5DAE348DD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0074" y="1040138"/>
            <a:ext cx="2220520" cy="423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16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6069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00"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理解预测：符号化表达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E32DA0-5A6E-4002-AA26-DFDC351E1DCC}"/>
              </a:ext>
            </a:extLst>
          </p:cNvPr>
          <p:cNvSpPr txBox="1"/>
          <p:nvPr/>
        </p:nvSpPr>
        <p:spPr>
          <a:xfrm>
            <a:off x="865659" y="1152895"/>
            <a:ext cx="5519056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这一步是理解</a:t>
            </a:r>
            <a:r>
              <a:rPr lang="en-US" altLang="zh-CN"/>
              <a:t>MPC</a:t>
            </a:r>
            <a:r>
              <a:rPr lang="zh-CN" altLang="en-US"/>
              <a:t>实现的关键步骤，我们需要在上一个搭建仿真环境的基础上，把未来</a:t>
            </a:r>
            <a:r>
              <a:rPr lang="en-US" altLang="zh-CN"/>
              <a:t>N</a:t>
            </a:r>
            <a:r>
              <a:rPr lang="zh-CN" altLang="en-US"/>
              <a:t>个</a:t>
            </a:r>
            <a:r>
              <a:rPr lang="en-US" altLang="zh-CN"/>
              <a:t>x</a:t>
            </a:r>
            <a:r>
              <a:rPr lang="zh-CN" altLang="en-US"/>
              <a:t>和</a:t>
            </a:r>
            <a:r>
              <a:rPr lang="en-US" altLang="zh-CN"/>
              <a:t>u</a:t>
            </a:r>
            <a:r>
              <a:rPr lang="zh-CN" altLang="en-US"/>
              <a:t>通过符号描述。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17A314-F44C-4935-8E84-5233DE9EFFF4}"/>
              </a:ext>
            </a:extLst>
          </p:cNvPr>
          <p:cNvSpPr txBox="1"/>
          <p:nvPr/>
        </p:nvSpPr>
        <p:spPr>
          <a:xfrm>
            <a:off x="865659" y="2579846"/>
            <a:ext cx="5519056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matlab</a:t>
            </a:r>
            <a:r>
              <a:rPr lang="zh-CN" altLang="en-US"/>
              <a:t>自带一个符号计算工具，可以通过</a:t>
            </a:r>
            <a:r>
              <a:rPr lang="en-US" altLang="zh-CN"/>
              <a:t>sym</a:t>
            </a:r>
            <a:r>
              <a:rPr lang="zh-CN" altLang="en-US"/>
              <a:t>或者</a:t>
            </a:r>
            <a:r>
              <a:rPr lang="en-US" altLang="zh-CN"/>
              <a:t>syms</a:t>
            </a:r>
            <a:r>
              <a:rPr lang="zh-CN" altLang="en-US"/>
              <a:t>声明符号变量。原生工具很方便，但是速度过于感人。煮包更加推荐使用</a:t>
            </a:r>
            <a:r>
              <a:rPr lang="en-US" altLang="zh-CN"/>
              <a:t>CasaDi</a:t>
            </a:r>
            <a:r>
              <a:rPr lang="zh-CN" altLang="en-US"/>
              <a:t>作为符号化计算和自动微分工具。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AB59E1-148C-4DDB-BEE9-7685500C9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73" y="521045"/>
            <a:ext cx="2896004" cy="2133898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9F1C813-DCA0-4E9F-919F-DC407575711D}"/>
              </a:ext>
            </a:extLst>
          </p:cNvPr>
          <p:cNvCxnSpPr>
            <a:cxnSpLocks/>
          </p:cNvCxnSpPr>
          <p:nvPr/>
        </p:nvCxnSpPr>
        <p:spPr>
          <a:xfrm>
            <a:off x="6642463" y="0"/>
            <a:ext cx="0" cy="274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9743B50-9E24-498D-A44B-DA3F7EC87F1F}"/>
              </a:ext>
            </a:extLst>
          </p:cNvPr>
          <p:cNvCxnSpPr>
            <a:cxnSpLocks/>
          </p:cNvCxnSpPr>
          <p:nvPr/>
        </p:nvCxnSpPr>
        <p:spPr>
          <a:xfrm>
            <a:off x="6642463" y="2756263"/>
            <a:ext cx="55495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5364A94-1847-4CAD-886C-5865E1D3BFAE}"/>
              </a:ext>
            </a:extLst>
          </p:cNvPr>
          <p:cNvSpPr txBox="1"/>
          <p:nvPr/>
        </p:nvSpPr>
        <p:spPr>
          <a:xfrm>
            <a:off x="8014173" y="140804"/>
            <a:ext cx="264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不会</a:t>
            </a:r>
            <a:r>
              <a:rPr lang="en-US" altLang="zh-CN">
                <a:solidFill>
                  <a:srgbClr val="C00000"/>
                </a:solidFill>
              </a:rPr>
              <a:t>casadi</a:t>
            </a:r>
            <a:r>
              <a:rPr lang="zh-CN" altLang="en-US">
                <a:solidFill>
                  <a:srgbClr val="C00000"/>
                </a:solidFill>
              </a:rPr>
              <a:t>可以看这个：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ADEF71-ABFB-4322-BAC5-C3024CA1FE14}"/>
              </a:ext>
            </a:extLst>
          </p:cNvPr>
          <p:cNvSpPr txBox="1"/>
          <p:nvPr/>
        </p:nvSpPr>
        <p:spPr>
          <a:xfrm>
            <a:off x="865659" y="4422295"/>
            <a:ext cx="5519056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在本教程中，需要用到的</a:t>
            </a:r>
            <a:r>
              <a:rPr lang="en-US" altLang="zh-CN"/>
              <a:t>casadi</a:t>
            </a:r>
            <a:r>
              <a:rPr lang="zh-CN" altLang="en-US"/>
              <a:t>功能有：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声明一个符号：</a:t>
            </a:r>
            <a:r>
              <a:rPr lang="en-US" altLang="zh-CN"/>
              <a:t>casadi.SX.sym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声明一个函数：</a:t>
            </a:r>
            <a:r>
              <a:rPr lang="en-US" altLang="zh-CN"/>
              <a:t>casadi.Function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8D0C9B-3CEA-498D-A2CC-8E133399D647}"/>
              </a:ext>
            </a:extLst>
          </p:cNvPr>
          <p:cNvSpPr txBox="1"/>
          <p:nvPr/>
        </p:nvSpPr>
        <p:spPr>
          <a:xfrm>
            <a:off x="6710800" y="2963360"/>
            <a:ext cx="5359280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举一个例子：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CA1A355-4DCF-4685-A560-CFA0F5EB5851}"/>
              </a:ext>
            </a:extLst>
          </p:cNvPr>
          <p:cNvCxnSpPr>
            <a:cxnSpLocks/>
          </p:cNvCxnSpPr>
          <p:nvPr/>
        </p:nvCxnSpPr>
        <p:spPr>
          <a:xfrm>
            <a:off x="6453051" y="2880360"/>
            <a:ext cx="0" cy="381155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538E1BBC-834D-4661-A4F8-895308177A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283"/>
          <a:stretch/>
        </p:blipFill>
        <p:spPr>
          <a:xfrm>
            <a:off x="6613458" y="5360451"/>
            <a:ext cx="5548691" cy="119079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D0E93A6-0E1B-498E-8652-C36443489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002" y="3473328"/>
            <a:ext cx="4594339" cy="163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8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6330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00"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理解预测：符号化表达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DB3336-70FB-4F4E-976E-F5EEAA7E215E}"/>
              </a:ext>
            </a:extLst>
          </p:cNvPr>
          <p:cNvCxnSpPr>
            <a:cxnSpLocks/>
          </p:cNvCxnSpPr>
          <p:nvPr/>
        </p:nvCxnSpPr>
        <p:spPr>
          <a:xfrm>
            <a:off x="5610496" y="149921"/>
            <a:ext cx="0" cy="655815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13DB37C-34F5-41EA-9A3E-E72999C5C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498" y="680007"/>
            <a:ext cx="2849735" cy="41496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4F195C-19DA-4722-9D7C-2515876C2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498" y="5075254"/>
            <a:ext cx="3152502" cy="75742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FCDC937-37DF-45EF-AB4B-C0AA252DA8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7205" r="1622"/>
          <a:stretch/>
        </p:blipFill>
        <p:spPr>
          <a:xfrm>
            <a:off x="5850651" y="897670"/>
            <a:ext cx="2184507" cy="3931951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F224222C-41D2-4A30-A5B7-E71B3B252F1F}"/>
              </a:ext>
            </a:extLst>
          </p:cNvPr>
          <p:cNvSpPr/>
          <p:nvPr/>
        </p:nvSpPr>
        <p:spPr>
          <a:xfrm>
            <a:off x="8387105" y="2468880"/>
            <a:ext cx="300446" cy="118872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0F1E2F-D295-41AA-AFF0-1F786C715FA8}"/>
              </a:ext>
            </a:extLst>
          </p:cNvPr>
          <p:cNvSpPr txBox="1"/>
          <p:nvPr/>
        </p:nvSpPr>
        <p:spPr>
          <a:xfrm>
            <a:off x="6217001" y="2149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数值仿真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6A9EF97-F758-4A85-8378-BEBFF1A87856}"/>
              </a:ext>
            </a:extLst>
          </p:cNvPr>
          <p:cNvSpPr txBox="1"/>
          <p:nvPr/>
        </p:nvSpPr>
        <p:spPr>
          <a:xfrm>
            <a:off x="9593749" y="18697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符号化表示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490888-CCFF-4979-BEF1-83B69BD60813}"/>
              </a:ext>
            </a:extLst>
          </p:cNvPr>
          <p:cNvSpPr/>
          <p:nvPr/>
        </p:nvSpPr>
        <p:spPr>
          <a:xfrm>
            <a:off x="5902235" y="847267"/>
            <a:ext cx="857793" cy="2532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D52E82-9193-44DD-A9D9-D6D47E5E6F19}"/>
              </a:ext>
            </a:extLst>
          </p:cNvPr>
          <p:cNvSpPr/>
          <p:nvPr/>
        </p:nvSpPr>
        <p:spPr>
          <a:xfrm>
            <a:off x="9044529" y="801935"/>
            <a:ext cx="2241780" cy="2532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1E6598-CB7F-4FCE-8CC8-82591E3A830E}"/>
              </a:ext>
            </a:extLst>
          </p:cNvPr>
          <p:cNvSpPr/>
          <p:nvPr/>
        </p:nvSpPr>
        <p:spPr>
          <a:xfrm>
            <a:off x="5902235" y="1905359"/>
            <a:ext cx="968828" cy="2532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810B9D-EC5D-42C0-9985-9F6AE021B391}"/>
              </a:ext>
            </a:extLst>
          </p:cNvPr>
          <p:cNvSpPr/>
          <p:nvPr/>
        </p:nvSpPr>
        <p:spPr>
          <a:xfrm>
            <a:off x="9078685" y="1872703"/>
            <a:ext cx="1743891" cy="2532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85111A-39D7-4108-BE58-27A8628F9EEA}"/>
              </a:ext>
            </a:extLst>
          </p:cNvPr>
          <p:cNvSpPr/>
          <p:nvPr/>
        </p:nvSpPr>
        <p:spPr>
          <a:xfrm>
            <a:off x="5902235" y="2342244"/>
            <a:ext cx="1243148" cy="2532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9E28CEE-B5C8-419B-981C-29A47FEF5BDE}"/>
              </a:ext>
            </a:extLst>
          </p:cNvPr>
          <p:cNvSpPr/>
          <p:nvPr/>
        </p:nvSpPr>
        <p:spPr>
          <a:xfrm>
            <a:off x="9078685" y="2316874"/>
            <a:ext cx="1853892" cy="2532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D9BE72-0EB4-4F03-A2DA-9651FF0CC490}"/>
              </a:ext>
            </a:extLst>
          </p:cNvPr>
          <p:cNvSpPr/>
          <p:nvPr/>
        </p:nvSpPr>
        <p:spPr>
          <a:xfrm>
            <a:off x="8983380" y="5020521"/>
            <a:ext cx="3152502" cy="910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9A5DC1-8851-4F31-8E04-3FBF72C706F5}"/>
              </a:ext>
            </a:extLst>
          </p:cNvPr>
          <p:cNvSpPr txBox="1"/>
          <p:nvPr/>
        </p:nvSpPr>
        <p:spPr>
          <a:xfrm>
            <a:off x="865659" y="1152895"/>
            <a:ext cx="4453096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在此基础上，我们可以写出符号化表示的仿真（预测）。这样，当初始值</a:t>
            </a:r>
            <a:r>
              <a:rPr lang="en-US" altLang="zh-CN"/>
              <a:t>x_0</a:t>
            </a:r>
            <a:r>
              <a:rPr lang="zh-CN" altLang="en-US"/>
              <a:t>和控制量序列</a:t>
            </a:r>
            <a:r>
              <a:rPr lang="en-US" altLang="zh-CN"/>
              <a:t>U</a:t>
            </a:r>
            <a:r>
              <a:rPr lang="zh-CN" altLang="en-US"/>
              <a:t>变化时，无需重新运行整个程序，只需要修改下面的</a:t>
            </a:r>
            <a:r>
              <a:rPr lang="en-US" altLang="zh-CN"/>
              <a:t>x_0</a:t>
            </a:r>
            <a:r>
              <a:rPr lang="zh-CN" altLang="en-US"/>
              <a:t>和</a:t>
            </a:r>
            <a:r>
              <a:rPr lang="en-US" altLang="zh-CN"/>
              <a:t>U</a:t>
            </a:r>
            <a:r>
              <a:rPr lang="zh-CN" altLang="en-US"/>
              <a:t>即可：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9D69D0C-9400-4DF8-8320-9358BA25AD92}"/>
              </a:ext>
            </a:extLst>
          </p:cNvPr>
          <p:cNvGrpSpPr/>
          <p:nvPr/>
        </p:nvGrpSpPr>
        <p:grpSpPr>
          <a:xfrm>
            <a:off x="1453654" y="3283227"/>
            <a:ext cx="3152502" cy="426810"/>
            <a:chOff x="1433648" y="2863645"/>
            <a:chExt cx="3152502" cy="426810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D514299C-0142-4276-BD4E-F8F24C0BF7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649"/>
            <a:stretch/>
          </p:blipFill>
          <p:spPr>
            <a:xfrm>
              <a:off x="1433648" y="2863645"/>
              <a:ext cx="3152502" cy="426810"/>
            </a:xfrm>
            <a:prstGeom prst="rect">
              <a:avLst/>
            </a:prstGeom>
          </p:spPr>
        </p:pic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BE1D4BF-6DE7-4108-AE02-0061ECCF6266}"/>
                </a:ext>
              </a:extLst>
            </p:cNvPr>
            <p:cNvCxnSpPr>
              <a:cxnSpLocks/>
            </p:cNvCxnSpPr>
            <p:nvPr/>
          </p:nvCxnSpPr>
          <p:spPr>
            <a:xfrm>
              <a:off x="2898865" y="3290455"/>
              <a:ext cx="120287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D71B3F60-AF1E-46D0-8F32-6B0CD6D257A8}"/>
              </a:ext>
            </a:extLst>
          </p:cNvPr>
          <p:cNvSpPr txBox="1"/>
          <p:nvPr/>
        </p:nvSpPr>
        <p:spPr>
          <a:xfrm>
            <a:off x="865659" y="4181302"/>
            <a:ext cx="4453096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这个部分非常重要，小伙伴们一定要好好理解。可以自己根据代码试着修改一下</a:t>
            </a:r>
            <a:r>
              <a:rPr lang="en-US" altLang="zh-CN"/>
              <a:t>x_0</a:t>
            </a:r>
            <a:r>
              <a:rPr lang="zh-CN" altLang="en-US"/>
              <a:t>和</a:t>
            </a:r>
            <a:r>
              <a:rPr lang="en-US" altLang="zh-CN"/>
              <a:t>U</a:t>
            </a:r>
            <a:r>
              <a:rPr lang="zh-CN" altLang="en-US"/>
              <a:t>看看结果。</a:t>
            </a:r>
          </a:p>
        </p:txBody>
      </p:sp>
    </p:spTree>
    <p:extLst>
      <p:ext uri="{BB962C8B-B14F-4D97-AF65-F5344CB8AC3E}">
        <p14:creationId xmlns:p14="http://schemas.microsoft.com/office/powerpoint/2010/main" val="3845637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F6E14E-AACD-456A-9136-3365467D9B8D}"/>
              </a:ext>
            </a:extLst>
          </p:cNvPr>
          <p:cNvSpPr txBox="1"/>
          <p:nvPr/>
        </p:nvSpPr>
        <p:spPr>
          <a:xfrm>
            <a:off x="1058092" y="1783080"/>
            <a:ext cx="2312125" cy="280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/>
              <a:t>大纲：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理解模型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理解预测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u="sng">
                <a:solidFill>
                  <a:srgbClr val="C00000"/>
                </a:solidFill>
              </a:rPr>
              <a:t>理解优化</a:t>
            </a:r>
            <a:endParaRPr lang="en-US" altLang="zh-CN" sz="2400" b="1" u="sng">
              <a:solidFill>
                <a:srgbClr val="C00000"/>
              </a:solidFill>
            </a:endParaRPr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实战</a:t>
            </a:r>
            <a:endParaRPr lang="en-US" altLang="zh-CN" sz="2400" b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CBE8EA-AE7B-4BCB-8B20-4BD8E2632C68}"/>
              </a:ext>
            </a:extLst>
          </p:cNvPr>
          <p:cNvSpPr txBox="1"/>
          <p:nvPr/>
        </p:nvSpPr>
        <p:spPr>
          <a:xfrm>
            <a:off x="5125539" y="632446"/>
            <a:ext cx="60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标准状态空间方程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适用于模型预测控制的模型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举个栗子（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19C8B1-4E6E-4C3F-A2F4-DC691ED2F775}"/>
              </a:ext>
            </a:extLst>
          </p:cNvPr>
          <p:cNvSpPr txBox="1"/>
          <p:nvPr/>
        </p:nvSpPr>
        <p:spPr>
          <a:xfrm>
            <a:off x="5125539" y="2598406"/>
            <a:ext cx="60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用数学模型搭建仿真环境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符号化表达</a:t>
            </a:r>
            <a:endParaRPr lang="en-US" altLang="zh-CN" sz="2400" b="1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举个粒子（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A5F05C-A469-46B7-A894-04550B59587E}"/>
              </a:ext>
            </a:extLst>
          </p:cNvPr>
          <p:cNvSpPr txBox="1"/>
          <p:nvPr/>
        </p:nvSpPr>
        <p:spPr>
          <a:xfrm>
            <a:off x="5125539" y="4564366"/>
            <a:ext cx="60970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非线性优化问题（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NLP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最优控制问题（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OCP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endParaRPr lang="en-US" altLang="zh-CN" sz="2400" b="1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二次规划问题（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QP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举个李子（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294C1AD-7AB2-449E-9803-1AF6B58E1CE6}"/>
              </a:ext>
            </a:extLst>
          </p:cNvPr>
          <p:cNvCxnSpPr>
            <a:endCxn id="10" idx="1"/>
          </p:cNvCxnSpPr>
          <p:nvPr/>
        </p:nvCxnSpPr>
        <p:spPr>
          <a:xfrm flipV="1">
            <a:off x="3180806" y="1232611"/>
            <a:ext cx="1944733" cy="145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6E5FC94-FFBD-47E3-8E54-08EC8A7E91A2}"/>
              </a:ext>
            </a:extLst>
          </p:cNvPr>
          <p:cNvCxnSpPr/>
          <p:nvPr/>
        </p:nvCxnSpPr>
        <p:spPr>
          <a:xfrm>
            <a:off x="3180806" y="3252651"/>
            <a:ext cx="1717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6B7EED6-4CD6-4FCF-BC6F-7FDDEDB2769B}"/>
              </a:ext>
            </a:extLst>
          </p:cNvPr>
          <p:cNvCxnSpPr/>
          <p:nvPr/>
        </p:nvCxnSpPr>
        <p:spPr>
          <a:xfrm>
            <a:off x="3180806" y="3798735"/>
            <a:ext cx="1776548" cy="1426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378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6330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00"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理解优化：一般的非线性优化问题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83AAA50-F1EC-4B48-9337-72A3F6790AC6}"/>
              </a:ext>
            </a:extLst>
          </p:cNvPr>
          <p:cNvCxnSpPr>
            <a:cxnSpLocks/>
          </p:cNvCxnSpPr>
          <p:nvPr/>
        </p:nvCxnSpPr>
        <p:spPr>
          <a:xfrm>
            <a:off x="6714308" y="214934"/>
            <a:ext cx="0" cy="655815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E6126D5-57D1-45B3-BC4D-E08E201C3BD3}"/>
              </a:ext>
            </a:extLst>
          </p:cNvPr>
          <p:cNvSpPr txBox="1"/>
          <p:nvPr/>
        </p:nvSpPr>
        <p:spPr>
          <a:xfrm>
            <a:off x="865658" y="1067987"/>
            <a:ext cx="5469825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马上就要到代码实现</a:t>
            </a:r>
            <a:r>
              <a:rPr lang="en-US" altLang="zh-CN"/>
              <a:t>MPC</a:t>
            </a:r>
            <a:r>
              <a:rPr lang="zh-CN" altLang="en-US"/>
              <a:t>了，不过在此之前，需要小伙伴们理解一下一般的非线性优化问题（</a:t>
            </a:r>
            <a:r>
              <a:rPr lang="en-US" altLang="zh-CN"/>
              <a:t>NonLinear Programming, NLP</a:t>
            </a:r>
            <a:r>
              <a:rPr lang="zh-CN" altLang="en-US"/>
              <a:t>）。标准</a:t>
            </a:r>
            <a:r>
              <a:rPr lang="en-US" altLang="zh-CN"/>
              <a:t>NLP</a:t>
            </a:r>
            <a:r>
              <a:rPr lang="zh-CN" altLang="en-US"/>
              <a:t>问题由三个要素组成：</a:t>
            </a:r>
            <a:r>
              <a:rPr lang="zh-CN" altLang="en-US">
                <a:solidFill>
                  <a:schemeClr val="accent1"/>
                </a:solidFill>
              </a:rPr>
              <a:t>优化变量</a:t>
            </a:r>
            <a:r>
              <a:rPr lang="zh-CN" altLang="en-US"/>
              <a:t>、</a:t>
            </a:r>
            <a:r>
              <a:rPr lang="zh-CN" altLang="en-US">
                <a:solidFill>
                  <a:schemeClr val="accent4"/>
                </a:solidFill>
              </a:rPr>
              <a:t>优化目标</a:t>
            </a:r>
            <a:r>
              <a:rPr lang="zh-CN" altLang="en-US"/>
              <a:t>、</a:t>
            </a:r>
            <a:r>
              <a:rPr lang="zh-CN" altLang="en-US">
                <a:solidFill>
                  <a:srgbClr val="FF0000"/>
                </a:solidFill>
              </a:rPr>
              <a:t>约束</a:t>
            </a:r>
            <a:r>
              <a:rPr lang="zh-CN" altLang="en-US"/>
              <a:t>。可以参考下面的表达式（注意</a:t>
            </a:r>
            <a:r>
              <a:rPr lang="en-US" altLang="zh-CN"/>
              <a:t>x</a:t>
            </a:r>
            <a:r>
              <a:rPr lang="zh-CN" altLang="en-US"/>
              <a:t>定义变了）：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367D7F-266A-48BB-84B0-1C1BF9128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56" y="3311434"/>
            <a:ext cx="3186914" cy="1504223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3F83E31-413C-4CC3-BBC6-7AE8F9A34A35}"/>
              </a:ext>
            </a:extLst>
          </p:cNvPr>
          <p:cNvCxnSpPr/>
          <p:nvPr/>
        </p:nvCxnSpPr>
        <p:spPr>
          <a:xfrm flipH="1">
            <a:off x="4114800" y="3631474"/>
            <a:ext cx="790303" cy="261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F68FEC6-D91D-44EA-BCE8-9AA469FBD1C2}"/>
              </a:ext>
            </a:extLst>
          </p:cNvPr>
          <p:cNvSpPr txBox="1"/>
          <p:nvPr/>
        </p:nvSpPr>
        <p:spPr>
          <a:xfrm>
            <a:off x="4905103" y="341967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等式约束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CB55B37-74F3-47D6-A0DF-5C38BAD43299}"/>
              </a:ext>
            </a:extLst>
          </p:cNvPr>
          <p:cNvCxnSpPr/>
          <p:nvPr/>
        </p:nvCxnSpPr>
        <p:spPr>
          <a:xfrm flipH="1">
            <a:off x="3844507" y="3210197"/>
            <a:ext cx="790303" cy="26125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F4A1C035-E98A-477D-A773-016853CE507F}"/>
              </a:ext>
            </a:extLst>
          </p:cNvPr>
          <p:cNvSpPr txBox="1"/>
          <p:nvPr/>
        </p:nvSpPr>
        <p:spPr>
          <a:xfrm>
            <a:off x="4691064" y="303101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accent4"/>
                </a:solidFill>
              </a:rPr>
              <a:t>优化目标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9204AFA-2021-4102-8F96-6BE16FE0E142}"/>
              </a:ext>
            </a:extLst>
          </p:cNvPr>
          <p:cNvCxnSpPr/>
          <p:nvPr/>
        </p:nvCxnSpPr>
        <p:spPr>
          <a:xfrm flipH="1">
            <a:off x="4235984" y="3932438"/>
            <a:ext cx="790303" cy="261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085EF47-3318-47AC-8F2B-03D257B12F34}"/>
              </a:ext>
            </a:extLst>
          </p:cNvPr>
          <p:cNvSpPr txBox="1"/>
          <p:nvPr/>
        </p:nvSpPr>
        <p:spPr>
          <a:xfrm>
            <a:off x="5026287" y="372064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不等式约束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4AF0B13-A197-40D1-98D0-9B763F6806EF}"/>
              </a:ext>
            </a:extLst>
          </p:cNvPr>
          <p:cNvCxnSpPr>
            <a:cxnSpLocks/>
          </p:cNvCxnSpPr>
          <p:nvPr/>
        </p:nvCxnSpPr>
        <p:spPr>
          <a:xfrm flipH="1">
            <a:off x="4660174" y="4412459"/>
            <a:ext cx="570227" cy="1844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AB15A96-13AB-4676-BB8F-E6452DDE7663}"/>
              </a:ext>
            </a:extLst>
          </p:cNvPr>
          <p:cNvSpPr txBox="1"/>
          <p:nvPr/>
        </p:nvSpPr>
        <p:spPr>
          <a:xfrm>
            <a:off x="5193189" y="417216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边界约束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D1357C6-BCC8-4F96-8DB8-EBBF4E02BE1F}"/>
              </a:ext>
            </a:extLst>
          </p:cNvPr>
          <p:cNvCxnSpPr>
            <a:cxnSpLocks/>
          </p:cNvCxnSpPr>
          <p:nvPr/>
        </p:nvCxnSpPr>
        <p:spPr>
          <a:xfrm flipV="1">
            <a:off x="1802674" y="3735101"/>
            <a:ext cx="633255" cy="19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6ECFF40-D8FD-4144-B9D6-266373EB2A2F}"/>
              </a:ext>
            </a:extLst>
          </p:cNvPr>
          <p:cNvSpPr txBox="1"/>
          <p:nvPr/>
        </p:nvSpPr>
        <p:spPr>
          <a:xfrm>
            <a:off x="943934" y="387453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</a:rPr>
              <a:t>优化变量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B555A05-3128-4B14-8A2E-17908A06DA77}"/>
              </a:ext>
            </a:extLst>
          </p:cNvPr>
          <p:cNvSpPr txBox="1"/>
          <p:nvPr/>
        </p:nvSpPr>
        <p:spPr>
          <a:xfrm>
            <a:off x="865657" y="4815657"/>
            <a:ext cx="5469825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煮包用</a:t>
            </a:r>
            <a:r>
              <a:rPr lang="en-US" altLang="zh-CN"/>
              <a:t>casadi</a:t>
            </a:r>
            <a:r>
              <a:rPr lang="zh-CN" altLang="en-US"/>
              <a:t>内部的</a:t>
            </a:r>
            <a:r>
              <a:rPr lang="en-US" altLang="zh-CN"/>
              <a:t>ipopt</a:t>
            </a:r>
            <a:r>
              <a:rPr lang="zh-CN" altLang="en-US"/>
              <a:t>作为求解器进行演示，不同的求解器所对应的</a:t>
            </a:r>
            <a:r>
              <a:rPr lang="en-US" altLang="zh-CN"/>
              <a:t>NLP</a:t>
            </a:r>
            <a:r>
              <a:rPr lang="zh-CN" altLang="en-US"/>
              <a:t>问题表示方式略有不同，</a:t>
            </a:r>
            <a:r>
              <a:rPr lang="en-US" altLang="zh-CN"/>
              <a:t>ipopt</a:t>
            </a:r>
            <a:r>
              <a:rPr lang="zh-CN" altLang="en-US"/>
              <a:t>不能直接声明等式约束，但是可以通过将不等式约束上下界设置为一致来声明等式约束。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1F8B4F3-FB78-4A2B-8C4D-B4FCD2461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738" y="1919882"/>
            <a:ext cx="2875303" cy="1051594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79A138F1-D06F-40BE-982A-71B2DA7313C2}"/>
              </a:ext>
            </a:extLst>
          </p:cNvPr>
          <p:cNvSpPr txBox="1"/>
          <p:nvPr/>
        </p:nvSpPr>
        <p:spPr>
          <a:xfrm>
            <a:off x="7880458" y="620718"/>
            <a:ext cx="2997925" cy="36933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用一段</a:t>
            </a:r>
            <a:r>
              <a:rPr lang="en-US" altLang="zh-CN"/>
              <a:t>matlab</a:t>
            </a:r>
            <a:r>
              <a:rPr lang="zh-CN" altLang="en-US"/>
              <a:t>代码演示一下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8C6A7C-2885-44B5-BB9D-C11D11A59C1B}"/>
              </a:ext>
            </a:extLst>
          </p:cNvPr>
          <p:cNvSpPr txBox="1"/>
          <p:nvPr/>
        </p:nvSpPr>
        <p:spPr>
          <a:xfrm>
            <a:off x="6953791" y="1420291"/>
            <a:ext cx="2875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考虑下面的优化问题：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79ECC6C-563F-4EC9-BE0D-0BDC88165D99}"/>
              </a:ext>
            </a:extLst>
          </p:cNvPr>
          <p:cNvSpPr txBox="1"/>
          <p:nvPr/>
        </p:nvSpPr>
        <p:spPr>
          <a:xfrm>
            <a:off x="7135969" y="6052616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计算结果为</a:t>
            </a:r>
            <a:r>
              <a:rPr lang="en-US" altLang="zh-CN"/>
              <a:t>[0.5;0.5]</a:t>
            </a:r>
            <a:endParaRPr lang="zh-CN" altLang="en-US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4E675046-7B73-43DB-A47E-9414B562F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478" y="3159746"/>
            <a:ext cx="4582164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30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D01A7A3-8C0F-4717-A7A7-AAD12F268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182" y="2252969"/>
            <a:ext cx="2936671" cy="217135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6330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00"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理解优化：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最优控制问题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83AAA50-F1EC-4B48-9337-72A3F6790AC6}"/>
              </a:ext>
            </a:extLst>
          </p:cNvPr>
          <p:cNvCxnSpPr>
            <a:cxnSpLocks/>
          </p:cNvCxnSpPr>
          <p:nvPr/>
        </p:nvCxnSpPr>
        <p:spPr>
          <a:xfrm>
            <a:off x="6714308" y="214934"/>
            <a:ext cx="0" cy="655815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E6126D5-57D1-45B3-BC4D-E08E201C3BD3}"/>
              </a:ext>
            </a:extLst>
          </p:cNvPr>
          <p:cNvSpPr txBox="1"/>
          <p:nvPr/>
        </p:nvSpPr>
        <p:spPr>
          <a:xfrm>
            <a:off x="865657" y="956332"/>
            <a:ext cx="5469825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最优控制问题（</a:t>
            </a:r>
            <a:r>
              <a:rPr lang="en-US" altLang="zh-CN"/>
              <a:t>Optimal Control Problem</a:t>
            </a:r>
            <a:r>
              <a:rPr lang="zh-CN" altLang="en-US"/>
              <a:t>，</a:t>
            </a:r>
            <a:r>
              <a:rPr lang="en-US" altLang="zh-CN"/>
              <a:t>OCP</a:t>
            </a:r>
            <a:r>
              <a:rPr lang="zh-CN" altLang="en-US"/>
              <a:t>）和</a:t>
            </a:r>
            <a:r>
              <a:rPr lang="en-US" altLang="zh-CN"/>
              <a:t>MPC</a:t>
            </a:r>
            <a:r>
              <a:rPr lang="zh-CN" altLang="en-US"/>
              <a:t>重合度很高，关于</a:t>
            </a:r>
            <a:r>
              <a:rPr lang="en-US" altLang="zh-CN"/>
              <a:t>OCP</a:t>
            </a:r>
            <a:r>
              <a:rPr lang="zh-CN" altLang="en-US"/>
              <a:t>煮包就不过度展开了，大家只需要记住</a:t>
            </a:r>
            <a:r>
              <a:rPr lang="en-US" altLang="zh-CN"/>
              <a:t>OCP</a:t>
            </a:r>
            <a:r>
              <a:rPr lang="zh-CN" altLang="en-US"/>
              <a:t>是</a:t>
            </a:r>
            <a:r>
              <a:rPr lang="en-US" altLang="zh-CN"/>
              <a:t>MPC</a:t>
            </a:r>
            <a:r>
              <a:rPr lang="zh-CN" altLang="en-US"/>
              <a:t>的一种特殊形式。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3F83E31-413C-4CC3-BBC6-7AE8F9A34A35}"/>
              </a:ext>
            </a:extLst>
          </p:cNvPr>
          <p:cNvCxnSpPr>
            <a:cxnSpLocks/>
          </p:cNvCxnSpPr>
          <p:nvPr/>
        </p:nvCxnSpPr>
        <p:spPr>
          <a:xfrm flipH="1" flipV="1">
            <a:off x="4633129" y="3054552"/>
            <a:ext cx="621385" cy="146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F68FEC6-D91D-44EA-BCE8-9AA469FBD1C2}"/>
              </a:ext>
            </a:extLst>
          </p:cNvPr>
          <p:cNvSpPr txBox="1"/>
          <p:nvPr/>
        </p:nvSpPr>
        <p:spPr>
          <a:xfrm>
            <a:off x="5254514" y="320118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等式约束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CB55B37-74F3-47D6-A0DF-5C38BAD43299}"/>
              </a:ext>
            </a:extLst>
          </p:cNvPr>
          <p:cNvCxnSpPr>
            <a:cxnSpLocks/>
          </p:cNvCxnSpPr>
          <p:nvPr/>
        </p:nvCxnSpPr>
        <p:spPr>
          <a:xfrm flipH="1">
            <a:off x="4008292" y="2543271"/>
            <a:ext cx="742298" cy="6216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F4A1C035-E98A-477D-A773-016853CE507F}"/>
              </a:ext>
            </a:extLst>
          </p:cNvPr>
          <p:cNvSpPr txBox="1"/>
          <p:nvPr/>
        </p:nvSpPr>
        <p:spPr>
          <a:xfrm>
            <a:off x="4787662" y="238130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accent4"/>
                </a:solidFill>
              </a:rPr>
              <a:t>优化目标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4AF0B13-A197-40D1-98D0-9B763F6806EF}"/>
              </a:ext>
            </a:extLst>
          </p:cNvPr>
          <p:cNvCxnSpPr>
            <a:cxnSpLocks/>
          </p:cNvCxnSpPr>
          <p:nvPr/>
        </p:nvCxnSpPr>
        <p:spPr>
          <a:xfrm flipH="1" flipV="1">
            <a:off x="3800377" y="3973345"/>
            <a:ext cx="1300136" cy="88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AB15A96-13AB-4676-BB8F-E6452DDE7663}"/>
              </a:ext>
            </a:extLst>
          </p:cNvPr>
          <p:cNvSpPr txBox="1"/>
          <p:nvPr/>
        </p:nvSpPr>
        <p:spPr>
          <a:xfrm>
            <a:off x="5211868" y="395484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边界约束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D1357C6-BCC8-4F96-8DB8-EBBF4E02BE1F}"/>
              </a:ext>
            </a:extLst>
          </p:cNvPr>
          <p:cNvCxnSpPr>
            <a:cxnSpLocks/>
          </p:cNvCxnSpPr>
          <p:nvPr/>
        </p:nvCxnSpPr>
        <p:spPr>
          <a:xfrm flipV="1">
            <a:off x="1441461" y="2818702"/>
            <a:ext cx="633255" cy="19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6ECFF40-D8FD-4144-B9D6-266373EB2A2F}"/>
              </a:ext>
            </a:extLst>
          </p:cNvPr>
          <p:cNvSpPr txBox="1"/>
          <p:nvPr/>
        </p:nvSpPr>
        <p:spPr>
          <a:xfrm>
            <a:off x="538650" y="29729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</a:rPr>
              <a:t>优化变量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B555A05-3128-4B14-8A2E-17908A06DA77}"/>
                  </a:ext>
                </a:extLst>
              </p:cNvPr>
              <p:cNvSpPr txBox="1"/>
              <p:nvPr/>
            </p:nvSpPr>
            <p:spPr>
              <a:xfrm>
                <a:off x="865657" y="4537102"/>
                <a:ext cx="5469825" cy="132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𝑑𝑦𝑛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就是</m:t>
                    </m:r>
                  </m:oMath>
                </a14:m>
                <a:r>
                  <a:rPr lang="zh-CN" altLang="en-US"/>
                  <a:t>我们前面提到的模型，后面两个等式约束分别对应初始状态约束和终端状态约束，对于</a:t>
                </a:r>
                <a:r>
                  <a:rPr lang="en-US" altLang="zh-CN"/>
                  <a:t>MPC</a:t>
                </a:r>
                <a:r>
                  <a:rPr lang="zh-CN" altLang="en-US"/>
                  <a:t>问题，终端状态约束可以不加。</a:t>
                </a: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B555A05-3128-4B14-8A2E-17908A06D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57" y="4537102"/>
                <a:ext cx="5469825" cy="1329531"/>
              </a:xfrm>
              <a:prstGeom prst="rect">
                <a:avLst/>
              </a:prstGeom>
              <a:blipFill>
                <a:blip r:embed="rId3"/>
                <a:stretch>
                  <a:fillRect l="-892" r="-4794" b="-6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78B01F6-37CD-4150-8844-D3F3CB22BFA9}"/>
              </a:ext>
            </a:extLst>
          </p:cNvPr>
          <p:cNvCxnSpPr>
            <a:cxnSpLocks/>
          </p:cNvCxnSpPr>
          <p:nvPr/>
        </p:nvCxnSpPr>
        <p:spPr>
          <a:xfrm flipH="1">
            <a:off x="3800377" y="4218138"/>
            <a:ext cx="1336762" cy="218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76BCE5B-CAEB-4C21-99EE-8D2FA016E006}"/>
              </a:ext>
            </a:extLst>
          </p:cNvPr>
          <p:cNvCxnSpPr/>
          <p:nvPr/>
        </p:nvCxnSpPr>
        <p:spPr>
          <a:xfrm flipH="1">
            <a:off x="4008291" y="3355074"/>
            <a:ext cx="11288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AEECBC2-8871-4694-92BB-A0B0699C3E71}"/>
              </a:ext>
            </a:extLst>
          </p:cNvPr>
          <p:cNvCxnSpPr>
            <a:cxnSpLocks/>
          </p:cNvCxnSpPr>
          <p:nvPr/>
        </p:nvCxnSpPr>
        <p:spPr>
          <a:xfrm flipH="1">
            <a:off x="4008292" y="3526922"/>
            <a:ext cx="1203576" cy="1905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A8AE7A46-AF08-4588-861F-DB4ACFFC6558}"/>
              </a:ext>
            </a:extLst>
          </p:cNvPr>
          <p:cNvSpPr txBox="1"/>
          <p:nvPr/>
        </p:nvSpPr>
        <p:spPr>
          <a:xfrm>
            <a:off x="7086980" y="950177"/>
            <a:ext cx="4901106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OCP</a:t>
            </a:r>
            <a:r>
              <a:rPr lang="zh-CN" altLang="en-US"/>
              <a:t>问题是一个连续问题，煮包同样用前向欧拉进行近似，近似后的</a:t>
            </a:r>
            <a:r>
              <a:rPr lang="en-US" altLang="zh-CN"/>
              <a:t>NLP</a:t>
            </a:r>
            <a:r>
              <a:rPr lang="zh-CN" altLang="en-US"/>
              <a:t>问题可以写成：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8A0FA17-FCAA-4289-9E6A-E7507E256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800" y="1890298"/>
            <a:ext cx="3984474" cy="2054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F3DCBFD-5FD4-4D7D-8328-B6807EC94AC8}"/>
                  </a:ext>
                </a:extLst>
              </p:cNvPr>
              <p:cNvSpPr txBox="1"/>
              <p:nvPr/>
            </p:nvSpPr>
            <p:spPr>
              <a:xfrm>
                <a:off x="7086980" y="3990022"/>
                <a:ext cx="4646974" cy="881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下面</m:t>
                    </m:r>
                  </m:oMath>
                </a14:m>
                <a:r>
                  <a:rPr lang="zh-CN" altLang="en-US"/>
                  <a:t>就通过代码来理解如何建立</a:t>
                </a:r>
                <a:r>
                  <a:rPr lang="en-US" altLang="zh-CN"/>
                  <a:t>MPC</a:t>
                </a:r>
                <a:r>
                  <a:rPr lang="zh-CN" altLang="en-US"/>
                  <a:t>问题和求解。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F3DCBFD-5FD4-4D7D-8328-B6807EC94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980" y="3990022"/>
                <a:ext cx="4646974" cy="881139"/>
              </a:xfrm>
              <a:prstGeom prst="rect">
                <a:avLst/>
              </a:prstGeom>
              <a:blipFill>
                <a:blip r:embed="rId5"/>
                <a:stretch>
                  <a:fillRect l="-1181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69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6330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00"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理解优化：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最优控制问题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550270-D37D-4BD2-857D-C622DA856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083" y="3685205"/>
            <a:ext cx="3126984" cy="291806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1314302-F701-4702-9EFE-3C319555A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083" y="1507368"/>
            <a:ext cx="3126984" cy="217783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9DE3FCE-8A89-4A6F-9489-2E53169C1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23" y="1507368"/>
            <a:ext cx="2611481" cy="3802683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136B6C1B-4CCA-4B15-AF62-53E0CB65081C}"/>
              </a:ext>
            </a:extLst>
          </p:cNvPr>
          <p:cNvSpPr txBox="1"/>
          <p:nvPr/>
        </p:nvSpPr>
        <p:spPr>
          <a:xfrm>
            <a:off x="1178849" y="10360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符号化表示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E9C462D-9255-49D7-9D5B-918AA8AC2EFD}"/>
              </a:ext>
            </a:extLst>
          </p:cNvPr>
          <p:cNvSpPr txBox="1"/>
          <p:nvPr/>
        </p:nvSpPr>
        <p:spPr>
          <a:xfrm>
            <a:off x="3987363" y="1036056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MPC</a:t>
            </a:r>
            <a:r>
              <a:rPr lang="zh-CN" altLang="en-US"/>
              <a:t>优化问题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A5E72-B340-4D14-94D0-B737239AE0AC}"/>
              </a:ext>
            </a:extLst>
          </p:cNvPr>
          <p:cNvSpPr/>
          <p:nvPr/>
        </p:nvSpPr>
        <p:spPr>
          <a:xfrm>
            <a:off x="2922796" y="3090845"/>
            <a:ext cx="300446" cy="118872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EFF64DE-88ED-4CA8-BF83-D0EF0A343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305" y="184360"/>
            <a:ext cx="3221249" cy="419317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ADC5C35-BF89-4F46-AC3E-6ED1E69AA2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305" y="4480370"/>
            <a:ext cx="4110374" cy="20521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AE94AE1-4C99-43E4-BEBB-FA923B4EB2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2931" y="780604"/>
            <a:ext cx="3204873" cy="255212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4966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910931-C614-40A7-AC44-5D2CA22B3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64" y="2400285"/>
            <a:ext cx="2875142" cy="14171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8F6077-AC23-42F0-8AFF-3F9BD793387D}"/>
              </a:ext>
            </a:extLst>
          </p:cNvPr>
          <p:cNvSpPr txBox="1"/>
          <p:nvPr/>
        </p:nvSpPr>
        <p:spPr>
          <a:xfrm>
            <a:off x="383721" y="325470"/>
            <a:ext cx="6330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2800"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理解优化：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二次规划问题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83AAA50-F1EC-4B48-9337-72A3F6790AC6}"/>
              </a:ext>
            </a:extLst>
          </p:cNvPr>
          <p:cNvCxnSpPr>
            <a:cxnSpLocks/>
          </p:cNvCxnSpPr>
          <p:nvPr/>
        </p:nvCxnSpPr>
        <p:spPr>
          <a:xfrm>
            <a:off x="6714308" y="214934"/>
            <a:ext cx="0" cy="655815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E6126D5-57D1-45B3-BC4D-E08E201C3BD3}"/>
              </a:ext>
            </a:extLst>
          </p:cNvPr>
          <p:cNvSpPr txBox="1"/>
          <p:nvPr/>
        </p:nvSpPr>
        <p:spPr>
          <a:xfrm>
            <a:off x="865657" y="956332"/>
            <a:ext cx="5469825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二次规划问题（</a:t>
            </a:r>
            <a:r>
              <a:rPr lang="en-US" altLang="zh-CN"/>
              <a:t>Quadratic Programming</a:t>
            </a:r>
            <a:r>
              <a:rPr lang="zh-CN" altLang="en-US"/>
              <a:t>，</a:t>
            </a:r>
            <a:r>
              <a:rPr lang="en-US" altLang="zh-CN"/>
              <a:t>QP</a:t>
            </a:r>
            <a:r>
              <a:rPr lang="zh-CN" altLang="en-US"/>
              <a:t>）本质上只是</a:t>
            </a:r>
            <a:r>
              <a:rPr lang="en-US" altLang="zh-CN"/>
              <a:t>NLP</a:t>
            </a:r>
            <a:r>
              <a:rPr lang="zh-CN" altLang="en-US"/>
              <a:t>问题的一种特殊简化形式，一般用下面的方式表示：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3F83E31-413C-4CC3-BBC6-7AE8F9A34A35}"/>
              </a:ext>
            </a:extLst>
          </p:cNvPr>
          <p:cNvCxnSpPr>
            <a:cxnSpLocks/>
          </p:cNvCxnSpPr>
          <p:nvPr/>
        </p:nvCxnSpPr>
        <p:spPr>
          <a:xfrm flipH="1">
            <a:off x="4428982" y="2954353"/>
            <a:ext cx="871424" cy="74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F68FEC6-D91D-44EA-BCE8-9AA469FBD1C2}"/>
              </a:ext>
            </a:extLst>
          </p:cNvPr>
          <p:cNvSpPr txBox="1"/>
          <p:nvPr/>
        </p:nvSpPr>
        <p:spPr>
          <a:xfrm>
            <a:off x="5302583" y="278043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等式约束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CB55B37-74F3-47D6-A0DF-5C38BAD43299}"/>
              </a:ext>
            </a:extLst>
          </p:cNvPr>
          <p:cNvCxnSpPr>
            <a:cxnSpLocks/>
          </p:cNvCxnSpPr>
          <p:nvPr/>
        </p:nvCxnSpPr>
        <p:spPr>
          <a:xfrm flipH="1">
            <a:off x="4342627" y="2446317"/>
            <a:ext cx="742298" cy="6216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F4A1C035-E98A-477D-A773-016853CE507F}"/>
              </a:ext>
            </a:extLst>
          </p:cNvPr>
          <p:cNvSpPr txBox="1"/>
          <p:nvPr/>
        </p:nvSpPr>
        <p:spPr>
          <a:xfrm>
            <a:off x="5121997" y="22843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accent4"/>
                </a:solidFill>
              </a:rPr>
              <a:t>优化目标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AB15A96-13AB-4676-BB8F-E6452DDE7663}"/>
              </a:ext>
            </a:extLst>
          </p:cNvPr>
          <p:cNvSpPr txBox="1"/>
          <p:nvPr/>
        </p:nvSpPr>
        <p:spPr>
          <a:xfrm>
            <a:off x="5302583" y="311959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不等式约束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D1357C6-BCC8-4F96-8DB8-EBBF4E02BE1F}"/>
              </a:ext>
            </a:extLst>
          </p:cNvPr>
          <p:cNvCxnSpPr>
            <a:cxnSpLocks/>
          </p:cNvCxnSpPr>
          <p:nvPr/>
        </p:nvCxnSpPr>
        <p:spPr>
          <a:xfrm flipV="1">
            <a:off x="1441461" y="2818702"/>
            <a:ext cx="633255" cy="19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6ECFF40-D8FD-4144-B9D6-266373EB2A2F}"/>
              </a:ext>
            </a:extLst>
          </p:cNvPr>
          <p:cNvSpPr txBox="1"/>
          <p:nvPr/>
        </p:nvSpPr>
        <p:spPr>
          <a:xfrm>
            <a:off x="538650" y="29729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accent1"/>
                </a:solidFill>
              </a:rPr>
              <a:t>优化变量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B555A05-3128-4B14-8A2E-17908A06DA77}"/>
                  </a:ext>
                </a:extLst>
              </p:cNvPr>
              <p:cNvSpPr txBox="1"/>
              <p:nvPr/>
            </p:nvSpPr>
            <p:spPr>
              <a:xfrm>
                <a:off x="865656" y="3960762"/>
                <a:ext cx="5469825" cy="464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对比</m:t>
                    </m:r>
                  </m:oMath>
                </a14:m>
                <a:r>
                  <a:rPr lang="zh-CN" altLang="en-US"/>
                  <a:t>一般的</a:t>
                </a:r>
                <a:r>
                  <a:rPr lang="en-US" altLang="zh-CN"/>
                  <a:t>NLP</a:t>
                </a:r>
                <a:r>
                  <a:rPr lang="zh-CN" altLang="en-US"/>
                  <a:t>问题不难发现，其实长的非常像：</a:t>
                </a: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B555A05-3128-4B14-8A2E-17908A06D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56" y="3960762"/>
                <a:ext cx="5469825" cy="464743"/>
              </a:xfrm>
              <a:prstGeom prst="rect">
                <a:avLst/>
              </a:prstGeom>
              <a:blipFill>
                <a:blip r:embed="rId3"/>
                <a:stretch>
                  <a:fillRect l="-223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A77ABC4-D924-44AF-B78F-FD507A9F07AD}"/>
              </a:ext>
            </a:extLst>
          </p:cNvPr>
          <p:cNvCxnSpPr>
            <a:cxnSpLocks/>
          </p:cNvCxnSpPr>
          <p:nvPr/>
        </p:nvCxnSpPr>
        <p:spPr>
          <a:xfrm flipH="1">
            <a:off x="4412204" y="3273484"/>
            <a:ext cx="871424" cy="74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99EA2B1-4624-4441-860F-28F7655C637F}"/>
              </a:ext>
            </a:extLst>
          </p:cNvPr>
          <p:cNvSpPr txBox="1"/>
          <p:nvPr/>
        </p:nvSpPr>
        <p:spPr>
          <a:xfrm>
            <a:off x="5324369" y="342737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边界约束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E95BA12-DFA8-4F69-B404-C56F980DDBF3}"/>
              </a:ext>
            </a:extLst>
          </p:cNvPr>
          <p:cNvCxnSpPr>
            <a:cxnSpLocks/>
          </p:cNvCxnSpPr>
          <p:nvPr/>
        </p:nvCxnSpPr>
        <p:spPr>
          <a:xfrm flipH="1">
            <a:off x="4442052" y="3598597"/>
            <a:ext cx="871424" cy="74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6346DC19-7497-4CCF-94AB-F0556A110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764" y="4651117"/>
            <a:ext cx="3186914" cy="1504223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E8CB965A-0B71-4154-B4F4-B0D865CE7818}"/>
              </a:ext>
            </a:extLst>
          </p:cNvPr>
          <p:cNvSpPr txBox="1"/>
          <p:nvPr/>
        </p:nvSpPr>
        <p:spPr>
          <a:xfrm>
            <a:off x="7152230" y="325470"/>
            <a:ext cx="4937442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/>
              <a:t>大多数博主推导</a:t>
            </a:r>
            <a:r>
              <a:rPr lang="en-US" altLang="zh-CN"/>
              <a:t>MPC</a:t>
            </a:r>
            <a:r>
              <a:rPr lang="zh-CN" altLang="en-US"/>
              <a:t>都是直接从</a:t>
            </a:r>
            <a:r>
              <a:rPr lang="en-US" altLang="zh-CN"/>
              <a:t>QP</a:t>
            </a:r>
            <a:r>
              <a:rPr lang="zh-CN" altLang="en-US"/>
              <a:t>开始推，中途加上了一大堆线性化之类的概念，导致最终的公式非常抽象，煮包给大家一个轮椅方法，前面我们建立了</a:t>
            </a:r>
            <a:r>
              <a:rPr lang="en-US" altLang="zh-CN"/>
              <a:t>NLP</a:t>
            </a:r>
            <a:r>
              <a:rPr lang="zh-CN" altLang="en-US"/>
              <a:t>的一大堆符号，利用这些符号直接求导就能得到</a:t>
            </a:r>
            <a:r>
              <a:rPr lang="en-US" altLang="zh-CN"/>
              <a:t>QP</a:t>
            </a:r>
            <a:r>
              <a:rPr lang="zh-CN" altLang="en-US"/>
              <a:t>问题：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308C198-D25B-44F9-B27C-A2B9B052D8F9}"/>
              </a:ext>
            </a:extLst>
          </p:cNvPr>
          <p:cNvSpPr txBox="1"/>
          <p:nvPr/>
        </p:nvSpPr>
        <p:spPr>
          <a:xfrm>
            <a:off x="6949758" y="5640840"/>
            <a:ext cx="5139914" cy="1029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/>
              <a:t>煮包可以拍胸脯保证，这样建立的</a:t>
            </a:r>
            <a:r>
              <a:rPr lang="en-US" altLang="zh-CN" sz="1400"/>
              <a:t>QP</a:t>
            </a:r>
            <a:r>
              <a:rPr lang="zh-CN" altLang="en-US" sz="1400"/>
              <a:t>问题和正常推导建立的</a:t>
            </a:r>
            <a:r>
              <a:rPr lang="en-US" altLang="zh-CN" sz="1400"/>
              <a:t>QP</a:t>
            </a:r>
            <a:r>
              <a:rPr lang="zh-CN" altLang="en-US" sz="1400"/>
              <a:t>问题优化结果几乎没有区别。</a:t>
            </a:r>
            <a:endParaRPr lang="en-US" altLang="zh-CN" sz="1400"/>
          </a:p>
          <a:p>
            <a:pPr algn="just">
              <a:lnSpc>
                <a:spcPct val="150000"/>
              </a:lnSpc>
            </a:pPr>
            <a:r>
              <a:rPr lang="zh-CN" altLang="en-US" sz="1400"/>
              <a:t>至于这个和</a:t>
            </a:r>
            <a:r>
              <a:rPr lang="en-US" altLang="zh-CN" sz="1400"/>
              <a:t>SQP</a:t>
            </a:r>
            <a:r>
              <a:rPr lang="zh-CN" altLang="en-US" sz="1400"/>
              <a:t>有什么关系？有区别，但一阶</a:t>
            </a:r>
            <a:r>
              <a:rPr lang="en-US" altLang="zh-CN" sz="1400"/>
              <a:t>KKT</a:t>
            </a:r>
            <a:r>
              <a:rPr lang="zh-CN" altLang="en-US" sz="1400"/>
              <a:t>条件是一致的。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E7F9D04-899D-4584-AD56-0B45FD576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527" y="2508484"/>
            <a:ext cx="2959894" cy="297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25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F6E14E-AACD-456A-9136-3365467D9B8D}"/>
              </a:ext>
            </a:extLst>
          </p:cNvPr>
          <p:cNvSpPr txBox="1"/>
          <p:nvPr/>
        </p:nvSpPr>
        <p:spPr>
          <a:xfrm>
            <a:off x="1058092" y="1783080"/>
            <a:ext cx="2312125" cy="280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/>
              <a:t>大纲：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理解模型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理解预测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理解优化</a:t>
            </a:r>
            <a:endParaRPr lang="en-US" altLang="zh-CN" sz="2400" b="1"/>
          </a:p>
          <a:p>
            <a:pPr marL="7200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/>
              <a:t>实战</a:t>
            </a:r>
            <a:endParaRPr lang="en-US" altLang="zh-CN" sz="2400" b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CBE8EA-AE7B-4BCB-8B20-4BD8E2632C68}"/>
              </a:ext>
            </a:extLst>
          </p:cNvPr>
          <p:cNvSpPr txBox="1"/>
          <p:nvPr/>
        </p:nvSpPr>
        <p:spPr>
          <a:xfrm>
            <a:off x="5125539" y="632446"/>
            <a:ext cx="60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标准状态空间方程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适用于模型预测控制的模型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举个栗子（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19C8B1-4E6E-4C3F-A2F4-DC691ED2F775}"/>
              </a:ext>
            </a:extLst>
          </p:cNvPr>
          <p:cNvSpPr txBox="1"/>
          <p:nvPr/>
        </p:nvSpPr>
        <p:spPr>
          <a:xfrm>
            <a:off x="5125539" y="2598406"/>
            <a:ext cx="60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用数学模型搭建仿真环境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符号化表达</a:t>
            </a:r>
            <a:endParaRPr lang="en-US" altLang="zh-CN" sz="2400" b="1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举个粒子（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A5F05C-A469-46B7-A894-04550B59587E}"/>
              </a:ext>
            </a:extLst>
          </p:cNvPr>
          <p:cNvSpPr txBox="1"/>
          <p:nvPr/>
        </p:nvSpPr>
        <p:spPr>
          <a:xfrm>
            <a:off x="5125539" y="4564366"/>
            <a:ext cx="60970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非线性优化问题（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NLP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最优控制问题（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OCP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endParaRPr lang="en-US" altLang="zh-CN" sz="2400" b="1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二次规划问题（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QP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举个李子（</a:t>
            </a:r>
            <a:r>
              <a:rPr lang="en-US" altLang="zh-CN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matlab</a:t>
            </a:r>
            <a:r>
              <a:rPr lang="zh-CN" altLang="en-US" sz="2400" b="1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代码实战）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294C1AD-7AB2-449E-9803-1AF6B58E1CE6}"/>
              </a:ext>
            </a:extLst>
          </p:cNvPr>
          <p:cNvCxnSpPr>
            <a:endCxn id="10" idx="1"/>
          </p:cNvCxnSpPr>
          <p:nvPr/>
        </p:nvCxnSpPr>
        <p:spPr>
          <a:xfrm flipV="1">
            <a:off x="3180806" y="1232611"/>
            <a:ext cx="1944733" cy="145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6E5FC94-FFBD-47E3-8E54-08EC8A7E91A2}"/>
              </a:ext>
            </a:extLst>
          </p:cNvPr>
          <p:cNvCxnSpPr/>
          <p:nvPr/>
        </p:nvCxnSpPr>
        <p:spPr>
          <a:xfrm>
            <a:off x="3180806" y="3252651"/>
            <a:ext cx="1717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6B7EED6-4CD6-4FCF-BC6F-7FDDEDB2769B}"/>
              </a:ext>
            </a:extLst>
          </p:cNvPr>
          <p:cNvCxnSpPr/>
          <p:nvPr/>
        </p:nvCxnSpPr>
        <p:spPr>
          <a:xfrm>
            <a:off x="3180806" y="3798735"/>
            <a:ext cx="1776548" cy="1426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228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1571</Words>
  <Application>Microsoft Office PowerPoint</Application>
  <PresentationFormat>宽屏</PresentationFormat>
  <Paragraphs>145</Paragraphs>
  <Slides>16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RuiFeng Li</dc:creator>
  <cp:lastModifiedBy>RuiFeng Li</cp:lastModifiedBy>
  <cp:revision>305</cp:revision>
  <dcterms:created xsi:type="dcterms:W3CDTF">2026-05-07T02:45:08Z</dcterms:created>
  <dcterms:modified xsi:type="dcterms:W3CDTF">2026-05-08T03:30:52Z</dcterms:modified>
</cp:coreProperties>
</file>